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44" r:id="rId1"/>
  </p:sldMasterIdLst>
  <p:notesMasterIdLst>
    <p:notesMasterId r:id="rId23"/>
  </p:notesMasterIdLst>
  <p:sldIdLst>
    <p:sldId id="256" r:id="rId2"/>
    <p:sldId id="258" r:id="rId3"/>
    <p:sldId id="296" r:id="rId4"/>
    <p:sldId id="297" r:id="rId5"/>
    <p:sldId id="298" r:id="rId6"/>
    <p:sldId id="270" r:id="rId7"/>
    <p:sldId id="290" r:id="rId8"/>
    <p:sldId id="289" r:id="rId9"/>
    <p:sldId id="291" r:id="rId10"/>
    <p:sldId id="294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282" r:id="rId22"/>
  </p:sldIdLst>
  <p:sldSz cx="12192000" cy="6858000"/>
  <p:notesSz cx="6797675" cy="9926638"/>
  <p:embeddedFontLst>
    <p:embeddedFont>
      <p:font typeface="휴먼둥근헤드라인" panose="02030504000101010101" pitchFamily="18" charset="-127"/>
      <p:regular r:id="rId24"/>
    </p:embeddedFont>
    <p:embeddedFont>
      <p:font typeface="맑은 고딕" panose="020B0503020000020004" pitchFamily="34" charset="-127"/>
      <p:regular r:id="rId25"/>
      <p:bold r:id="rId26"/>
    </p:embeddedFont>
    <p:embeddedFont>
      <p:font typeface="Noto Sans KR" panose="020B0200000000000000" pitchFamily="34" charset="-128"/>
      <p:regular r:id="rId27"/>
      <p:bold r:id="rId28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맑은 고딕" panose="020B0503020000020004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맑은 고딕" panose="020B0503020000020004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맑은 고딕" panose="020B0503020000020004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맑은 고딕" panose="020B0503020000020004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Calibri" panose="020F0502020204030204" pitchFamily="34" charset="0"/>
        <a:ea typeface="맑은 고딕" panose="020B0503020000020004" pitchFamily="50" charset="-127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Calibri" panose="020F0502020204030204" pitchFamily="34" charset="0"/>
        <a:ea typeface="맑은 고딕" panose="020B0503020000020004" pitchFamily="50" charset="-127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Calibri" panose="020F0502020204030204" pitchFamily="34" charset="0"/>
        <a:ea typeface="맑은 고딕" panose="020B0503020000020004" pitchFamily="50" charset="-127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Calibri" panose="020F0502020204030204" pitchFamily="34" charset="0"/>
        <a:ea typeface="맑은 고딕" panose="020B0503020000020004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2273" userDrawn="1">
          <p15:clr>
            <a:srgbClr val="A4A3A4"/>
          </p15:clr>
        </p15:guide>
        <p15:guide id="4" orient="horz" pos="23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DF4D"/>
    <a:srgbClr val="FE431E"/>
    <a:srgbClr val="939597"/>
    <a:srgbClr val="E41A00"/>
    <a:srgbClr val="F2F2F2"/>
    <a:srgbClr val="0165B2"/>
    <a:srgbClr val="445569"/>
    <a:srgbClr val="1F4E79"/>
    <a:srgbClr val="D9D9D9"/>
    <a:srgbClr val="8781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57" autoAdjust="0"/>
    <p:restoredTop sz="94660"/>
  </p:normalViewPr>
  <p:slideViewPr>
    <p:cSldViewPr>
      <p:cViewPr>
        <p:scale>
          <a:sx n="156" d="100"/>
          <a:sy n="156" d="100"/>
        </p:scale>
        <p:origin x="760" y="1600"/>
      </p:cViewPr>
      <p:guideLst>
        <p:guide orient="horz" pos="2160"/>
        <p:guide pos="3840"/>
        <p:guide orient="horz" pos="2273"/>
        <p:guide orient="horz" pos="236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3864" y="108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4B13090-954C-42B8-9E26-10AE906BFE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B5573C-C310-4726-9454-5731CB3903B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B23E853-DAFB-42BA-8E42-DDF83CF398B2}" type="datetimeFigureOut">
              <a:rPr lang="ko-KR" altLang="en-US"/>
              <a:pPr>
                <a:defRPr/>
              </a:pPr>
              <a:t>2026. 7. 3.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FD22152C-1816-43C7-B775-5E35B9F1B4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0B8D62B9-6FD8-43F2-9E77-9978E5CE90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 편집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97EA6A-DFF3-4031-B2DB-B8F0C59EF5B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483748-CC11-4FD5-9189-939F40637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2D6D723-6FAE-4977-A65A-290E950EFE4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716531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2D6D723-6FAE-4977-A65A-290E950EFE4D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1609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각 삼각형 1">
            <a:extLst>
              <a:ext uri="{FF2B5EF4-FFF2-40B4-BE49-F238E27FC236}">
                <a16:creationId xmlns:a16="http://schemas.microsoft.com/office/drawing/2014/main" id="{365A99C7-F13B-47D8-B5BD-38E6F0CB361D}"/>
              </a:ext>
            </a:extLst>
          </p:cNvPr>
          <p:cNvSpPr/>
          <p:nvPr userDrawn="1"/>
        </p:nvSpPr>
        <p:spPr>
          <a:xfrm rot="5400000" flipH="1" flipV="1">
            <a:off x="11796713" y="6462713"/>
            <a:ext cx="334962" cy="45561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712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각 삼각형 1">
            <a:extLst>
              <a:ext uri="{FF2B5EF4-FFF2-40B4-BE49-F238E27FC236}">
                <a16:creationId xmlns:a16="http://schemas.microsoft.com/office/drawing/2014/main" id="{4C9F9D85-245D-487B-9B00-88B0B539706D}"/>
              </a:ext>
            </a:extLst>
          </p:cNvPr>
          <p:cNvSpPr/>
          <p:nvPr userDrawn="1"/>
        </p:nvSpPr>
        <p:spPr>
          <a:xfrm rot="5400000" flipH="1" flipV="1">
            <a:off x="11796713" y="6462713"/>
            <a:ext cx="334962" cy="455612"/>
          </a:xfrm>
          <a:prstGeom prst="rtTriangle">
            <a:avLst/>
          </a:prstGeom>
          <a:solidFill>
            <a:srgbClr val="4455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8899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각 삼각형 1">
            <a:extLst>
              <a:ext uri="{FF2B5EF4-FFF2-40B4-BE49-F238E27FC236}">
                <a16:creationId xmlns:a16="http://schemas.microsoft.com/office/drawing/2014/main" id="{5D9AA456-0B6B-4E73-B0F7-E7ED14FCE978}"/>
              </a:ext>
            </a:extLst>
          </p:cNvPr>
          <p:cNvSpPr/>
          <p:nvPr userDrawn="1"/>
        </p:nvSpPr>
        <p:spPr>
          <a:xfrm rot="5400000" flipH="1" flipV="1">
            <a:off x="11796713" y="6462713"/>
            <a:ext cx="334962" cy="45561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712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각 삼각형 7">
            <a:extLst>
              <a:ext uri="{FF2B5EF4-FFF2-40B4-BE49-F238E27FC236}">
                <a16:creationId xmlns:a16="http://schemas.microsoft.com/office/drawing/2014/main" id="{79EBF7CE-BBD8-4458-A8ED-6DB61D7612E5}"/>
              </a:ext>
            </a:extLst>
          </p:cNvPr>
          <p:cNvSpPr/>
          <p:nvPr userDrawn="1"/>
        </p:nvSpPr>
        <p:spPr>
          <a:xfrm rot="5400000" flipH="1" flipV="1">
            <a:off x="11796713" y="6462713"/>
            <a:ext cx="334962" cy="45561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</p:sldLayoutIdLst>
  <p:txStyles>
    <p:titleStyle>
      <a:lvl1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맑은 고딕" panose="020B0503020000020004" pitchFamily="50" charset="-127"/>
        </a:defRPr>
      </a:lvl2pPr>
      <a:lvl3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맑은 고딕" panose="020B0503020000020004" pitchFamily="50" charset="-127"/>
        </a:defRPr>
      </a:lvl3pPr>
      <a:lvl4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맑은 고딕" panose="020B0503020000020004" pitchFamily="50" charset="-127"/>
        </a:defRPr>
      </a:lvl4pPr>
      <a:lvl5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맑은 고딕" panose="020B0503020000020004" pitchFamily="50" charset="-127"/>
        </a:defRPr>
      </a:lvl5pPr>
      <a:lvl6pPr marL="4572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맑은 고딕" panose="020B0503020000020004" pitchFamily="50" charset="-127"/>
        </a:defRPr>
      </a:lvl6pPr>
      <a:lvl7pPr marL="9144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맑은 고딕" panose="020B0503020000020004" pitchFamily="50" charset="-127"/>
        </a:defRPr>
      </a:lvl7pPr>
      <a:lvl8pPr marL="13716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맑은 고딕" panose="020B0503020000020004" pitchFamily="50" charset="-127"/>
        </a:defRPr>
      </a:lvl8pPr>
      <a:lvl9pPr marL="18288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맑은 고딕" panose="020B0503020000020004" pitchFamily="50" charset="-127"/>
        </a:defRPr>
      </a:lvl9pPr>
    </p:titleStyle>
    <p:bodyStyle>
      <a:lvl1pPr marL="228600" indent="-228600" algn="l" rtl="0" eaLnBrk="0" fontAlgn="base" latinLnBrk="1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4A0F72E-1949-4219-AC42-014A834BDE88}"/>
              </a:ext>
            </a:extLst>
          </p:cNvPr>
          <p:cNvSpPr txBox="1"/>
          <p:nvPr/>
        </p:nvSpPr>
        <p:spPr>
          <a:xfrm>
            <a:off x="6708068" y="4149070"/>
            <a:ext cx="5158567" cy="1036630"/>
          </a:xfrm>
          <a:prstGeom prst="rect">
            <a:avLst/>
          </a:prstGeom>
          <a:noFill/>
        </p:spPr>
        <p:txBody>
          <a:bodyPr tIns="0" bIns="0">
            <a:spAutoFit/>
          </a:bodyPr>
          <a:lstStyle/>
          <a:p>
            <a:pPr algn="r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TEAM 1</a:t>
            </a:r>
            <a:r>
              <a: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조</a:t>
            </a:r>
            <a:endParaRPr lang="en-US" altLang="ko-KR" sz="24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algn="r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조창희</a:t>
            </a: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</a:t>
            </a:r>
            <a:r>
              <a: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손재민</a:t>
            </a: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</a:t>
            </a:r>
            <a:r>
              <a: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강병호</a:t>
            </a: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</a:t>
            </a:r>
            <a:r>
              <a: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김동건</a:t>
            </a:r>
            <a:endParaRPr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" y="1579670"/>
            <a:ext cx="12191999" cy="2190904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939597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60" y="1803510"/>
            <a:ext cx="17366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NHN 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아카데미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10859084" y="-40947"/>
            <a:ext cx="8851785" cy="286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C535B9-0206-4933-B3A2-FC73A8BF1A8F}"/>
              </a:ext>
            </a:extLst>
          </p:cNvPr>
          <p:cNvSpPr txBox="1"/>
          <p:nvPr/>
        </p:nvSpPr>
        <p:spPr>
          <a:xfrm>
            <a:off x="5159896" y="2367345"/>
            <a:ext cx="6768752" cy="615553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AI </a:t>
            </a:r>
            <a:r>
              <a:rPr lang="ko-KR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도서관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-1907"/>
            <a:ext cx="12192000" cy="338554"/>
          </a:xfrm>
          <a:prstGeom prst="rect">
            <a:avLst/>
          </a:prstGeom>
          <a:solidFill>
            <a:srgbClr val="F5DF4D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pPr algn="ctr"/>
            <a:endParaRPr lang="ko-KR" altLang="en-US" sz="1600" spc="6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10067" y="1700808"/>
            <a:ext cx="11971867" cy="1944216"/>
          </a:xfrm>
          <a:prstGeom prst="rect">
            <a:avLst/>
          </a:prstGeom>
          <a:noFill/>
          <a:ln w="15875">
            <a:solidFill>
              <a:srgbClr val="939597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6393E6-466C-AA91-1C07-48815B987B97}"/>
              </a:ext>
            </a:extLst>
          </p:cNvPr>
          <p:cNvSpPr txBox="1"/>
          <p:nvPr/>
        </p:nvSpPr>
        <p:spPr>
          <a:xfrm>
            <a:off x="215475" y="3199854"/>
            <a:ext cx="9888842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60"/>
              </a:lnSpc>
            </a:pPr>
            <a:r>
              <a:rPr lang="en-US" altLang="ko-KR" sz="1800" dirty="0">
                <a:solidFill>
                  <a:schemeClr val="accent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Pretendard" panose="02000503000000020004" pitchFamily="2" charset="-127"/>
              </a:rPr>
              <a:t>Java Backend </a:t>
            </a:r>
            <a:r>
              <a:rPr lang="ko-KR" altLang="en-US" sz="1800" dirty="0">
                <a:solidFill>
                  <a:schemeClr val="accent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Pretendard" panose="02000503000000020004" pitchFamily="2" charset="-127"/>
              </a:rPr>
              <a:t>개발자 과정 </a:t>
            </a:r>
            <a:r>
              <a:rPr lang="en-US" altLang="ko-KR" dirty="0">
                <a:solidFill>
                  <a:schemeClr val="accent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Pretendard" panose="02000503000000020004" pitchFamily="2" charset="-127"/>
              </a:rPr>
              <a:t>12</a:t>
            </a:r>
            <a:r>
              <a:rPr lang="ko-KR" altLang="en-US" sz="1800" dirty="0">
                <a:solidFill>
                  <a:schemeClr val="accent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Pretendard" panose="02000503000000020004" pitchFamily="2" charset="-127"/>
              </a:rPr>
              <a:t>기</a:t>
            </a:r>
            <a:endParaRPr lang="en-US" altLang="ko-KR" sz="1800" dirty="0">
              <a:solidFill>
                <a:schemeClr val="accent5"/>
              </a:solidFill>
              <a:latin typeface="Noto Sans KR" panose="020B0200000000000000" pitchFamily="34" charset="-128"/>
              <a:ea typeface="Noto Sans KR" panose="020B0200000000000000" pitchFamily="34" charset="-128"/>
              <a:cs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939597">
            <a:alpha val="1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그림 5"/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231778" y="0"/>
            <a:ext cx="39616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6296549" y="1485945"/>
            <a:ext cx="3673068" cy="430887"/>
          </a:xfrm>
          <a:prstGeom prst="rect">
            <a:avLst/>
          </a:prstGeom>
          <a:noFill/>
        </p:spPr>
        <p:txBody>
          <a:bodyPr tIns="0" bIns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01. </a:t>
            </a:r>
            <a:r>
              <a: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 개요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41571E-D5AF-4658-8E5B-5F588CCC25FE}"/>
              </a:ext>
            </a:extLst>
          </p:cNvPr>
          <p:cNvSpPr txBox="1"/>
          <p:nvPr/>
        </p:nvSpPr>
        <p:spPr>
          <a:xfrm>
            <a:off x="6296549" y="2287034"/>
            <a:ext cx="4969212" cy="43088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02. </a:t>
            </a:r>
            <a:r>
              <a: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 팀 구성 및 역할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A5B540-74AA-4CA6-904D-994DB65E4EB3}"/>
              </a:ext>
            </a:extLst>
          </p:cNvPr>
          <p:cNvSpPr txBox="1"/>
          <p:nvPr/>
        </p:nvSpPr>
        <p:spPr>
          <a:xfrm>
            <a:off x="6296549" y="3088123"/>
            <a:ext cx="5293248" cy="43088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03. </a:t>
            </a:r>
            <a:r>
              <a: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 수행 절차 및 방법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0421BD-AD74-4354-9633-30BE8885A1C6}"/>
              </a:ext>
            </a:extLst>
          </p:cNvPr>
          <p:cNvSpPr txBox="1"/>
          <p:nvPr/>
        </p:nvSpPr>
        <p:spPr>
          <a:xfrm>
            <a:off x="6296549" y="3889212"/>
            <a:ext cx="4480049" cy="43088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04. </a:t>
            </a:r>
            <a:r>
              <a: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 수행 경과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0421BD-AD74-4354-9633-30BE8885A1C6}"/>
              </a:ext>
            </a:extLst>
          </p:cNvPr>
          <p:cNvSpPr txBox="1"/>
          <p:nvPr/>
        </p:nvSpPr>
        <p:spPr>
          <a:xfrm>
            <a:off x="6296549" y="4690301"/>
            <a:ext cx="3205016" cy="430887"/>
          </a:xfrm>
          <a:prstGeom prst="rect">
            <a:avLst/>
          </a:prstGeom>
          <a:noFill/>
        </p:spPr>
        <p:txBody>
          <a:bodyPr tIns="0" bIns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05. </a:t>
            </a:r>
            <a:r>
              <a: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자체 평가 의견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4CDDD06-C26E-49E8-A179-00D4CDF28DDF}"/>
              </a:ext>
            </a:extLst>
          </p:cNvPr>
          <p:cNvSpPr/>
          <p:nvPr/>
        </p:nvSpPr>
        <p:spPr bwMode="auto">
          <a:xfrm>
            <a:off x="1" y="0"/>
            <a:ext cx="5231780" cy="6858000"/>
          </a:xfrm>
          <a:prstGeom prst="rect">
            <a:avLst/>
          </a:prstGeom>
          <a:solidFill>
            <a:srgbClr val="F5DF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목차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5DF4D"/>
            </a:gs>
            <a:gs pos="44000">
              <a:srgbClr val="F5DF4D">
                <a:alpha val="70000"/>
                <a:lumMod val="90000"/>
                <a:lumOff val="10000"/>
              </a:srgbClr>
            </a:gs>
            <a:gs pos="71000">
              <a:srgbClr val="939597">
                <a:alpha val="70000"/>
                <a:lumMod val="90000"/>
                <a:lumOff val="10000"/>
              </a:srgbClr>
            </a:gs>
            <a:gs pos="100000">
              <a:srgbClr val="939597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61415" y="299769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4CE34E-C7C1-4DD4-A0D0-B0D83CF9FEFF}"/>
              </a:ext>
            </a:extLst>
          </p:cNvPr>
          <p:cNvSpPr txBox="1"/>
          <p:nvPr/>
        </p:nvSpPr>
        <p:spPr>
          <a:xfrm>
            <a:off x="1200772" y="1250152"/>
            <a:ext cx="8604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아래 내용이 </a:t>
            </a:r>
            <a:r>
              <a:rPr lang="ko-KR" altLang="en-US" b="1" spc="-150" dirty="0">
                <a:solidFill>
                  <a:srgbClr val="FE431E"/>
                </a:solidFill>
                <a:latin typeface="+mn-ea"/>
                <a:ea typeface="+mn-ea"/>
              </a:rPr>
              <a:t>반드시 포함</a:t>
            </a:r>
            <a:r>
              <a:rPr lang="ko-KR" altLang="en-US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되도록 작성한다</a:t>
            </a:r>
            <a:r>
              <a:rPr lang="en-US" altLang="ko-KR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.  </a:t>
            </a:r>
            <a:endParaRPr lang="en-US" altLang="ko-KR" b="1" spc="-15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6423CA-E427-413A-9169-DD6B4B063271}"/>
              </a:ext>
            </a:extLst>
          </p:cNvPr>
          <p:cNvSpPr txBox="1"/>
          <p:nvPr/>
        </p:nvSpPr>
        <p:spPr>
          <a:xfrm>
            <a:off x="1274180" y="5420898"/>
            <a:ext cx="504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6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활용방안 및 기대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16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효과</a:t>
            </a:r>
          </a:p>
        </p:txBody>
      </p:sp>
      <p:sp>
        <p:nvSpPr>
          <p:cNvPr id="9" name="TextBox 3"/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01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4C78107-0BE1-42E7-9701-50F4E32B0513}"/>
              </a:ext>
            </a:extLst>
          </p:cNvPr>
          <p:cNvCxnSpPr>
            <a:cxnSpLocks/>
          </p:cNvCxnSpPr>
          <p:nvPr/>
        </p:nvCxnSpPr>
        <p:spPr>
          <a:xfrm>
            <a:off x="3935760" y="790307"/>
            <a:ext cx="795223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4336CA7-DD68-47ED-833D-9D1086CD5222}"/>
              </a:ext>
            </a:extLst>
          </p:cNvPr>
          <p:cNvSpPr txBox="1"/>
          <p:nvPr/>
        </p:nvSpPr>
        <p:spPr>
          <a:xfrm>
            <a:off x="1164392" y="313361"/>
            <a:ext cx="2185214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개요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396" y="1160748"/>
            <a:ext cx="504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n w="12700">
                  <a:solidFill>
                    <a:srgbClr val="939597"/>
                  </a:solidFill>
                  <a:prstDash val="solid"/>
                </a:ln>
                <a:pattFill prst="dkUpDiag">
                  <a:fgClr>
                    <a:srgbClr val="939597"/>
                  </a:fgClr>
                  <a:bgClr>
                    <a:schemeClr val="bg2">
                      <a:lumMod val="90000"/>
                    </a:schemeClr>
                  </a:bgClr>
                </a:pattFill>
                <a:effectLst>
                  <a:outerShdw dist="38100" dir="2640000" algn="bl" rotWithShape="0">
                    <a:srgbClr val="939597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▶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272024" y="1916832"/>
            <a:ext cx="5040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6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프로젝트 주제 및 선정 배경</a:t>
            </a:r>
            <a:r>
              <a:rPr lang="en-US" altLang="ko-KR" sz="16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16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기획의도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263288" y="2867730"/>
            <a:ext cx="62281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6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프로젝트 내용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</a:t>
            </a:r>
            <a:endParaRPr lang="en-US" altLang="ko-KR" sz="16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278991" y="3761723"/>
            <a:ext cx="5040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6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활용 장비 및 재료</a:t>
            </a:r>
            <a:endParaRPr lang="en-US" altLang="ko-KR" sz="16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278991" y="4691002"/>
            <a:ext cx="5040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6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프로젝트 구조</a:t>
            </a:r>
            <a:endParaRPr lang="en-US" altLang="ko-KR" sz="16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005478" y="1981650"/>
            <a:ext cx="266546" cy="2665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992169" y="2911399"/>
            <a:ext cx="266546" cy="2665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1012445" y="3807158"/>
            <a:ext cx="266546" cy="2665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1012445" y="4734488"/>
            <a:ext cx="266546" cy="2798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>
            <a:off x="1007634" y="5456949"/>
            <a:ext cx="266546" cy="2665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22" name="직사각형 21"/>
          <p:cNvSpPr/>
          <p:nvPr/>
        </p:nvSpPr>
        <p:spPr>
          <a:xfrm>
            <a:off x="1425562" y="3209650"/>
            <a:ext cx="88294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-</a:t>
            </a:r>
            <a:r>
              <a:rPr lang="ko-KR" altLang="en-US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데이터 적재부터 키워드 검색</a:t>
            </a:r>
            <a:r>
              <a:rPr lang="en-US" altLang="ko-KR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,</a:t>
            </a:r>
            <a:r>
              <a:rPr lang="ko-KR" altLang="en-US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벡터</a:t>
            </a:r>
            <a:r>
              <a:rPr lang="en-US" altLang="ko-KR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/</a:t>
            </a:r>
            <a:r>
              <a:rPr lang="ko-KR" altLang="en-US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하이브리드 검색</a:t>
            </a:r>
            <a:r>
              <a:rPr lang="en-US" altLang="ko-KR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,</a:t>
            </a:r>
            <a:r>
              <a:rPr lang="ko-KR" altLang="en-US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RAG</a:t>
            </a:r>
            <a:r>
              <a:rPr lang="ko-KR" altLang="en-US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기반 추천</a:t>
            </a:r>
            <a:r>
              <a:rPr lang="en-US" altLang="ko-KR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,</a:t>
            </a:r>
            <a:r>
              <a:rPr lang="ko-KR" altLang="en-US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성능 최적화</a:t>
            </a:r>
            <a:r>
              <a:rPr lang="en-US" altLang="ko-KR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,</a:t>
            </a:r>
            <a:r>
              <a:rPr lang="ko-KR" altLang="en-US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1400" b="1" spc="-150" dirty="0" err="1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텔레그램</a:t>
            </a:r>
            <a:r>
              <a:rPr lang="ko-KR" altLang="en-US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봇 </a:t>
            </a:r>
            <a:r>
              <a:rPr lang="en-US" altLang="ko-KR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UI, </a:t>
            </a:r>
            <a:r>
              <a:rPr lang="ko-KR" altLang="en-US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개인화 추천</a:t>
            </a:r>
            <a:r>
              <a:rPr lang="en-US" altLang="ko-KR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,</a:t>
            </a:r>
            <a:r>
              <a:rPr lang="ko-KR" altLang="en-US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             오케스트레이션까지 단계적으로 구현함</a:t>
            </a:r>
            <a:endParaRPr lang="en-US" altLang="ko-KR" sz="1400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415760" y="4184737"/>
            <a:ext cx="81726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- Java 21, Spring Boot, PostgreSQL, RabbitMQ, LLM API, Telegram Bot, </a:t>
            </a:r>
            <a:r>
              <a:rPr lang="ko-KR" altLang="en-US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도서관정보나루 공공 </a:t>
            </a:r>
            <a:r>
              <a:rPr lang="en-US" altLang="ko-KR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API</a:t>
            </a:r>
            <a:r>
              <a:rPr lang="ko-KR" altLang="en-US" sz="1400" b="1" spc="-150" dirty="0" err="1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를</a:t>
            </a:r>
            <a:r>
              <a:rPr lang="ko-KR" altLang="en-US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활용함</a:t>
            </a:r>
            <a:endParaRPr lang="en-US" altLang="ko-KR" sz="1400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1272024" y="5807098"/>
            <a:ext cx="968451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-</a:t>
            </a:r>
            <a:r>
              <a:rPr lang="ko-KR" altLang="en-US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이용자에게는 자연어 기반 맞춤 도서 추천을</a:t>
            </a:r>
            <a:r>
              <a:rPr lang="en-US" altLang="ko-KR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,</a:t>
            </a:r>
            <a:r>
              <a:rPr lang="ko-KR" altLang="en-US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도서관에는 검색 품질</a:t>
            </a:r>
            <a:r>
              <a:rPr lang="en-US" altLang="ko-KR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,</a:t>
            </a:r>
            <a:r>
              <a:rPr lang="ko-KR" altLang="en-US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응답 속도를 개선한 </a:t>
            </a:r>
            <a:r>
              <a:rPr lang="en-US" altLang="ko-KR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AI</a:t>
            </a:r>
            <a:r>
              <a:rPr lang="ko-KR" altLang="en-US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검색 서비스로 확장 가능함</a:t>
            </a:r>
            <a:endParaRPr lang="en-US" altLang="ko-KR" sz="1400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4" name="직사각형 21">
            <a:extLst>
              <a:ext uri="{FF2B5EF4-FFF2-40B4-BE49-F238E27FC236}">
                <a16:creationId xmlns:a16="http://schemas.microsoft.com/office/drawing/2014/main" id="{91AC7089-8D52-7A79-B9AA-BEE0E15E8A1C}"/>
              </a:ext>
            </a:extLst>
          </p:cNvPr>
          <p:cNvSpPr/>
          <p:nvPr/>
        </p:nvSpPr>
        <p:spPr>
          <a:xfrm>
            <a:off x="1425562" y="2306821"/>
            <a:ext cx="823483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- </a:t>
            </a:r>
            <a:r>
              <a:rPr lang="ko-KR" altLang="en-US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공공 도서관 데이터를 활용해 전통적 키워드 검색의 한계를 </a:t>
            </a:r>
            <a:r>
              <a:rPr lang="en-US" altLang="ko-KR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AI</a:t>
            </a:r>
            <a:r>
              <a:rPr lang="ko-KR" altLang="en-US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로 극복하는 지능형 도서 검색 시스템을 구축한다</a:t>
            </a:r>
            <a:endParaRPr lang="en-US" altLang="ko-KR" sz="1400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" name="직사각형 22">
            <a:extLst>
              <a:ext uri="{FF2B5EF4-FFF2-40B4-BE49-F238E27FC236}">
                <a16:creationId xmlns:a16="http://schemas.microsoft.com/office/drawing/2014/main" id="{6BB7EFF8-A4A8-FAB5-DD1D-7161B9FC3189}"/>
              </a:ext>
            </a:extLst>
          </p:cNvPr>
          <p:cNvSpPr/>
          <p:nvPr/>
        </p:nvSpPr>
        <p:spPr>
          <a:xfrm>
            <a:off x="1419022" y="5018581"/>
            <a:ext cx="81726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- </a:t>
            </a:r>
            <a:r>
              <a:rPr lang="ko-KR" altLang="en-US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배치 핵심 로직</a:t>
            </a:r>
            <a:r>
              <a:rPr lang="en-US" altLang="ko-KR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,</a:t>
            </a:r>
            <a:r>
              <a:rPr lang="ko-KR" altLang="en-US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웹 </a:t>
            </a:r>
            <a:r>
              <a:rPr lang="ko-KR" altLang="en-US" sz="1400" b="1" spc="-150" dirty="0" err="1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텔레그램</a:t>
            </a:r>
            <a:r>
              <a:rPr lang="en-US" altLang="ko-KR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,</a:t>
            </a:r>
            <a:r>
              <a:rPr lang="ko-KR" altLang="en-US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외부 연동 패키지로 역할 분리한 계층형 </a:t>
            </a:r>
            <a:r>
              <a:rPr lang="ko-KR" altLang="en-US" sz="1400" b="1" spc="-150" dirty="0" err="1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백엔드</a:t>
            </a:r>
            <a:r>
              <a:rPr lang="ko-KR" altLang="en-US" sz="14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구조</a:t>
            </a:r>
            <a:endParaRPr lang="en-US" altLang="ko-KR" sz="1400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40260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5DF4D"/>
            </a:gs>
            <a:gs pos="44000">
              <a:srgbClr val="F5DF4D">
                <a:alpha val="70000"/>
                <a:lumMod val="90000"/>
                <a:lumOff val="10000"/>
              </a:srgbClr>
            </a:gs>
            <a:gs pos="71000">
              <a:srgbClr val="939597">
                <a:alpha val="70000"/>
                <a:lumMod val="90000"/>
                <a:lumOff val="10000"/>
              </a:srgbClr>
            </a:gs>
            <a:gs pos="100000">
              <a:srgbClr val="939597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55958" y="116632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3"/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02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4C78107-0BE1-42E7-9701-50F4E32B0513}"/>
              </a:ext>
            </a:extLst>
          </p:cNvPr>
          <p:cNvCxnSpPr>
            <a:cxnSpLocks/>
          </p:cNvCxnSpPr>
          <p:nvPr/>
        </p:nvCxnSpPr>
        <p:spPr>
          <a:xfrm>
            <a:off x="5375920" y="790307"/>
            <a:ext cx="651207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4336CA7-DD68-47ED-833D-9D1086CD5222}"/>
              </a:ext>
            </a:extLst>
          </p:cNvPr>
          <p:cNvSpPr txBox="1"/>
          <p:nvPr/>
        </p:nvSpPr>
        <p:spPr>
          <a:xfrm>
            <a:off x="1164392" y="313361"/>
            <a:ext cx="387798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팀 구성 및 역할</a:t>
            </a:r>
          </a:p>
        </p:txBody>
      </p:sp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782568"/>
              </p:ext>
            </p:extLst>
          </p:nvPr>
        </p:nvGraphicFramePr>
        <p:xfrm>
          <a:off x="911424" y="1232757"/>
          <a:ext cx="9902041" cy="4678190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1587796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2106996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6207249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</a:tblGrid>
              <a:tr h="4678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훈련생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F4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역할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F4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담당 업무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1052586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조창희</a:t>
                      </a:r>
                      <a:endParaRPr lang="ko-KR" altLang="en-US" sz="1800" b="0" i="1" u="none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60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MCP</a:t>
                      </a:r>
                      <a:r>
                        <a:rPr kumimoji="0" lang="ko-KR" altLang="en-US" sz="160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60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Server</a:t>
                      </a:r>
                      <a:endParaRPr kumimoji="0" lang="ko-KR" altLang="en-US" sz="1600" i="1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▶</a:t>
                      </a:r>
                      <a:r>
                        <a:rPr lang="ko-KR" altLang="en-US" sz="1600" b="1" baseline="0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 </a:t>
                      </a:r>
                      <a:r>
                        <a:rPr kumimoji="0" lang="en-US" altLang="ko-KR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MCP </a:t>
                      </a:r>
                      <a:r>
                        <a:rPr kumimoji="0" lang="ko-KR" altLang="en-US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서버구현</a:t>
                      </a:r>
                      <a:r>
                        <a:rPr kumimoji="0" lang="en-US" altLang="ko-KR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, </a:t>
                      </a:r>
                      <a:r>
                        <a:rPr kumimoji="0" lang="en-US" altLang="ko-KR" sz="160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ChatBot</a:t>
                      </a:r>
                      <a:r>
                        <a:rPr kumimoji="0" lang="en-US" altLang="ko-KR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kumimoji="0" lang="ko-KR" altLang="en-US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기능 구현</a:t>
                      </a:r>
                      <a:endParaRPr kumimoji="0" lang="en-US" altLang="ko-KR" sz="16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▶ </a:t>
                      </a:r>
                      <a:r>
                        <a:rPr kumimoji="0" lang="en-US" altLang="ko-KR" sz="160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MCP </a:t>
                      </a:r>
                      <a:r>
                        <a:rPr kumimoji="0" lang="ko-KR" altLang="en-US" sz="160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서버에서 호출되는 </a:t>
                      </a:r>
                      <a:r>
                        <a:rPr kumimoji="0" lang="en-US" altLang="ko-KR" sz="160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Tool</a:t>
                      </a:r>
                      <a:r>
                        <a:rPr kumimoji="0" lang="ko-KR" altLang="en-US" sz="160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의 </a:t>
                      </a:r>
                      <a:r>
                        <a:rPr kumimoji="0" lang="en-US" altLang="ko-KR" sz="160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r>
                        <a:rPr kumimoji="0" lang="ko-KR" altLang="en-US" sz="160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검토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1052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i="1" u="none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김동건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RabbitMQ-embedding Server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▶</a:t>
                      </a:r>
                      <a:r>
                        <a:rPr lang="ko-KR" altLang="en-US" sz="1600" b="1" baseline="0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 </a:t>
                      </a:r>
                      <a:r>
                        <a:rPr kumimoji="0" lang="en-US" altLang="ko-KR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RabbitMQ</a:t>
                      </a:r>
                      <a:r>
                        <a:rPr kumimoji="0" lang="ko-KR" altLang="en-US" sz="160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를</a:t>
                      </a:r>
                      <a:r>
                        <a:rPr kumimoji="0" lang="ko-KR" altLang="en-US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 사용한 </a:t>
                      </a:r>
                      <a:r>
                        <a:rPr kumimoji="0" lang="en-US" altLang="ko-KR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Review AI Summary </a:t>
                      </a:r>
                      <a:r>
                        <a:rPr kumimoji="0" lang="ko-KR" altLang="en-US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최적화</a:t>
                      </a:r>
                      <a:endParaRPr kumimoji="0" lang="en-US" altLang="ko-KR" sz="16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▶</a:t>
                      </a:r>
                      <a:r>
                        <a:rPr lang="ko-KR" altLang="en-US" sz="1600" b="1" baseline="0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 </a:t>
                      </a:r>
                      <a:r>
                        <a:rPr kumimoji="0" lang="en-US" altLang="ko-KR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Embedding Server </a:t>
                      </a:r>
                      <a:r>
                        <a:rPr kumimoji="0" lang="ko-KR" altLang="en-US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구현</a:t>
                      </a:r>
                      <a:endParaRPr kumimoji="0" lang="en-US" altLang="ko-KR" sz="16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1052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손재민</a:t>
                      </a:r>
                      <a:endParaRPr kumimoji="0" lang="ko-KR" alt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Book &amp; Library Search</a:t>
                      </a:r>
                      <a:endParaRPr kumimoji="0" lang="ko-KR" altLang="en-US" sz="1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▶</a:t>
                      </a:r>
                      <a:r>
                        <a:rPr lang="ko-KR" altLang="en-US" sz="1600" b="1" baseline="0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 </a:t>
                      </a:r>
                      <a:r>
                        <a:rPr kumimoji="0" lang="en-US" altLang="ko-KR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Keyword, Vector, Hybrid, RAG </a:t>
                      </a:r>
                      <a:r>
                        <a:rPr kumimoji="0" lang="ko-KR" altLang="en-US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검색 구현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▶</a:t>
                      </a:r>
                      <a:r>
                        <a:rPr lang="ko-KR" altLang="en-US" sz="1600" b="1" baseline="0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 </a:t>
                      </a:r>
                      <a:r>
                        <a:rPr kumimoji="0" lang="ko-KR" altLang="en-US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초기 데이터 </a:t>
                      </a:r>
                      <a:r>
                        <a:rPr kumimoji="0" lang="en-US" altLang="ko-KR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Batch</a:t>
                      </a:r>
                      <a:r>
                        <a:rPr kumimoji="0" lang="ko-KR" altLang="en-US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Server </a:t>
                      </a:r>
                      <a:r>
                        <a:rPr kumimoji="0" lang="ko-KR" altLang="en-US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구현</a:t>
                      </a:r>
                      <a:r>
                        <a:rPr kumimoji="0" lang="en-US" altLang="ko-KR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검색에 대한 </a:t>
                      </a:r>
                      <a:r>
                        <a:rPr kumimoji="0" lang="en-US" altLang="ko-KR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Cache</a:t>
                      </a:r>
                      <a:r>
                        <a:rPr kumimoji="0" lang="ko-KR" altLang="en-US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구현</a:t>
                      </a:r>
                      <a:endParaRPr kumimoji="0" lang="ko-KR" altLang="en-US" sz="1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1052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강병호</a:t>
                      </a:r>
                      <a:endParaRPr kumimoji="0" lang="ko-KR" altLang="en-US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Review, Feedback, Telegram service</a:t>
                      </a:r>
                      <a:endParaRPr kumimoji="0" lang="ko-KR" altLang="en-US" sz="1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▶ </a:t>
                      </a:r>
                      <a:r>
                        <a:rPr kumimoji="0" lang="en-US" altLang="ko-KR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Review</a:t>
                      </a:r>
                      <a:r>
                        <a:rPr kumimoji="0" lang="ko-KR" altLang="en-US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kumimoji="0" lang="en-US" altLang="ko-KR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AI</a:t>
                      </a:r>
                      <a:r>
                        <a:rPr kumimoji="0" lang="ko-KR" altLang="en-US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kumimoji="0" lang="en-US" altLang="ko-KR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Summary </a:t>
                      </a:r>
                      <a:r>
                        <a:rPr kumimoji="0" lang="ko-KR" altLang="en-US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구현 </a:t>
                      </a:r>
                      <a:endParaRPr kumimoji="0" lang="en-US" altLang="ko-KR" sz="16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▶ </a:t>
                      </a:r>
                      <a:r>
                        <a:rPr kumimoji="0" lang="en-US" altLang="ko-KR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Telegram</a:t>
                      </a:r>
                      <a:r>
                        <a:rPr kumimoji="0" lang="ko-KR" altLang="en-US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 연동 서비스 및 개인화 구현</a:t>
                      </a:r>
                      <a:endParaRPr kumimoji="0" lang="en-US" altLang="ko-KR" sz="16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0137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rgbClr val="F5DF4D"/>
            </a:gs>
            <a:gs pos="44000">
              <a:srgbClr val="F5DF4D">
                <a:alpha val="70000"/>
                <a:lumMod val="90000"/>
                <a:lumOff val="10000"/>
              </a:srgbClr>
            </a:gs>
            <a:gs pos="71000">
              <a:srgbClr val="939597">
                <a:alpha val="70000"/>
                <a:lumMod val="99000"/>
                <a:lumOff val="1000"/>
              </a:srgbClr>
            </a:gs>
            <a:gs pos="100000">
              <a:srgbClr val="939597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19014" y="200058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004532"/>
              </p:ext>
            </p:extLst>
          </p:nvPr>
        </p:nvGraphicFramePr>
        <p:xfrm>
          <a:off x="813080" y="1019063"/>
          <a:ext cx="10549172" cy="5182239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848770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1885978">
                  <a:extLst>
                    <a:ext uri="{9D8B030D-6E8A-4147-A177-3AD203B41FA5}">
                      <a16:colId xmlns:a16="http://schemas.microsoft.com/office/drawing/2014/main" val="2457702995"/>
                    </a:ext>
                  </a:extLst>
                </a:gridCol>
                <a:gridCol w="4543636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2270788">
                  <a:extLst>
                    <a:ext uri="{9D8B030D-6E8A-4147-A177-3AD203B41FA5}">
                      <a16:colId xmlns:a16="http://schemas.microsoft.com/office/drawing/2014/main" val="1146148137"/>
                    </a:ext>
                  </a:extLst>
                </a:gridCol>
              </a:tblGrid>
              <a:tr h="72887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500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구분</a:t>
                      </a:r>
                      <a:endParaRPr lang="ko-KR" altLang="en-US" sz="1500" b="1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4930" marR="84930" marT="42485" marB="4248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F4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500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기간</a:t>
                      </a:r>
                      <a:endParaRPr lang="ko-KR" altLang="en-US" sz="1500" b="1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4930" marR="84930" marT="42485" marB="4248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F4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500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활동</a:t>
                      </a:r>
                      <a:endParaRPr lang="ko-KR" altLang="en-US" sz="1500" b="1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4930" marR="84930" marT="42485" marB="4248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F4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500" b="1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4930" marR="84930" marT="42485" marB="4248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4301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kumimoji="0" lang="ko-KR" altLang="en-US" sz="1500" i="1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데이터 구축</a:t>
                      </a:r>
                      <a:endParaRPr lang="ko-KR" altLang="en-US" sz="1500" b="1" i="1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4930" marR="84930" marT="42485" marB="4248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500" b="1" spc="-100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▶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 06/17(</a:t>
                      </a:r>
                      <a:r>
                        <a:rPr lang="ko-KR" altLang="en-US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수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) ~ 06/18(</a:t>
                      </a:r>
                      <a:r>
                        <a:rPr lang="ko-KR" altLang="en-US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목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)</a:t>
                      </a:r>
                      <a:endParaRPr lang="en-US" altLang="ko-KR" sz="1500" b="0" i="1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CSV Batch </a:t>
                      </a:r>
                      <a:r>
                        <a:rPr lang="ko-KR" altLang="en-US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데이터 적재 </a:t>
                      </a:r>
                      <a:r>
                        <a:rPr lang="en-US" altLang="ko-KR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LIKE </a:t>
                      </a:r>
                      <a:r>
                        <a:rPr lang="ko-KR" altLang="en-US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기반 검색 구현 </a:t>
                      </a:r>
                      <a:r>
                        <a:rPr lang="en-US" altLang="ko-KR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 검색 </a:t>
                      </a:r>
                      <a:r>
                        <a:rPr lang="en-US" altLang="ko-KR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API</a:t>
                      </a:r>
                      <a:r>
                        <a:rPr lang="ko-KR" altLang="en-US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 개발</a:t>
                      </a:r>
                      <a:r>
                        <a:rPr lang="en-US" altLang="ko-KR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 인덱싱</a:t>
                      </a:r>
                      <a:r>
                        <a:rPr lang="en-US" altLang="ko-KR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전문검색 최적화</a:t>
                      </a:r>
                      <a:endParaRPr lang="en-US" altLang="ko-KR" sz="1500" b="0" i="1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500" b="0" i="1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4301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kumimoji="0" lang="ko-KR" altLang="en-US" sz="1500" i="1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벡터 검색 도입</a:t>
                      </a:r>
                    </a:p>
                  </a:txBody>
                  <a:tcPr marL="84930" marR="84930" marT="42485" marB="4248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500" b="1" spc="-100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▶ 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06/22(</a:t>
                      </a:r>
                      <a:r>
                        <a:rPr lang="ko-KR" altLang="en-US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월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) ~ 06/25(</a:t>
                      </a:r>
                      <a:r>
                        <a:rPr lang="ko-KR" altLang="en-US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목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)</a:t>
                      </a:r>
                      <a:endParaRPr lang="en-US" altLang="ko-KR" sz="1500" b="0" i="1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500" b="0" i="1" u="none" spc="-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pgvector</a:t>
                      </a:r>
                      <a:r>
                        <a:rPr lang="en-US" altLang="ko-KR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환경 구축</a:t>
                      </a:r>
                      <a:r>
                        <a:rPr lang="en-US" altLang="ko-KR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500" b="0" i="1" u="none" spc="-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임베딩생성</a:t>
                      </a:r>
                      <a:r>
                        <a:rPr lang="ko-KR" altLang="en-US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Batch, </a:t>
                      </a:r>
                      <a:r>
                        <a:rPr lang="ko-KR" altLang="en-US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자연어 검색</a:t>
                      </a:r>
                      <a:r>
                        <a:rPr lang="en-US" altLang="ko-KR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 하이브리드 검색</a:t>
                      </a:r>
                      <a:endParaRPr lang="en-US" altLang="ko-KR" sz="1500" b="0" i="1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500" b="0" i="1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3585898"/>
                  </a:ext>
                </a:extLst>
              </a:tr>
              <a:tr h="55415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kumimoji="0" lang="en-US" altLang="ko-KR" sz="1500" i="1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RAG</a:t>
                      </a:r>
                      <a:r>
                        <a:rPr kumimoji="0" lang="ko-KR" altLang="en-US" sz="1500" i="1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기반 </a:t>
                      </a:r>
                      <a:r>
                        <a:rPr kumimoji="0" lang="en-US" altLang="ko-KR" sz="1500" i="1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AI</a:t>
                      </a:r>
                      <a:r>
                        <a:rPr kumimoji="0" lang="ko-KR" altLang="en-US" sz="1500" i="1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응답 생성</a:t>
                      </a:r>
                    </a:p>
                  </a:txBody>
                  <a:tcPr marL="84930" marR="84930" marT="42485" marB="4248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500" b="1" spc="-100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▶ 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06/25(</a:t>
                      </a:r>
                      <a:r>
                        <a:rPr lang="ko-KR" altLang="en-US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목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) ~ 06/28(</a:t>
                      </a:r>
                      <a:r>
                        <a:rPr lang="ko-KR" altLang="en-US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일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)</a:t>
                      </a:r>
                      <a:endParaRPr lang="en-US" altLang="ko-KR" sz="1500" b="0" i="1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RAG </a:t>
                      </a:r>
                      <a:r>
                        <a:rPr lang="ko-KR" altLang="en-US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개념 적용</a:t>
                      </a:r>
                      <a:r>
                        <a:rPr lang="en-US" altLang="ko-KR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Context</a:t>
                      </a:r>
                      <a:r>
                        <a:rPr lang="ko-KR" altLang="en-US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 구성</a:t>
                      </a:r>
                      <a:r>
                        <a:rPr lang="en-US" altLang="ko-KR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LLM </a:t>
                      </a:r>
                      <a:r>
                        <a:rPr lang="ko-KR" altLang="en-US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연동</a:t>
                      </a:r>
                      <a:endParaRPr lang="en-US" altLang="ko-KR" sz="1500" b="0" i="1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500" b="0" i="1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87332"/>
                  </a:ext>
                </a:extLst>
              </a:tr>
              <a:tr h="5689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500" b="0" i="1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AI </a:t>
                      </a:r>
                      <a:r>
                        <a:rPr kumimoji="0" lang="ko-KR" altLang="en-US" sz="1500" b="0" i="1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성능 비용 튜닝</a:t>
                      </a:r>
                      <a:endParaRPr lang="ko-KR" altLang="en-US" sz="1500" b="1" i="1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4930" marR="84930" marT="42485" marB="4248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500" b="1" spc="-100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▶ 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06/24(</a:t>
                      </a:r>
                      <a:r>
                        <a:rPr lang="ko-KR" altLang="en-US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수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) ~ 06/29(</a:t>
                      </a:r>
                      <a:r>
                        <a:rPr lang="ko-KR" altLang="en-US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금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)</a:t>
                      </a:r>
                      <a:endParaRPr lang="en-US" altLang="ko-KR" sz="1500" b="0" i="1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성능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비용 문제 인식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Top-K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최적화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500" b="0" i="1" u="none" strike="noStrike" spc="-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시멘틱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500" b="0" i="1" u="none" strike="noStrike" spc="-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캐싱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리뷰 요약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리뷰 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RAG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연동</a:t>
                      </a: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endParaRPr lang="ko-KR" altLang="en-US" sz="1500" b="0" i="1" u="none" strike="noStrike" spc="-1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716193"/>
                  </a:ext>
                </a:extLst>
              </a:tr>
              <a:tr h="4871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500" b="0" i="1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Telegram Bot UI </a:t>
                      </a:r>
                      <a:r>
                        <a:rPr kumimoji="0" lang="ko-KR" altLang="en-US" sz="1500" b="0" i="1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구축</a:t>
                      </a:r>
                      <a:endParaRPr kumimoji="0" lang="ko-KR" altLang="en-US" sz="1500" b="1" i="1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0" marR="84930" marT="42485" marB="4248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500" b="1" spc="-100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▶ 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06/24(</a:t>
                      </a:r>
                      <a:r>
                        <a:rPr lang="ko-KR" altLang="en-US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수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) ~ 06/27(</a:t>
                      </a:r>
                      <a:r>
                        <a:rPr lang="ko-KR" altLang="en-US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토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)</a:t>
                      </a:r>
                      <a:endParaRPr lang="en-US" altLang="ko-KR" sz="1500" b="0" i="1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봇 설정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,RAG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검색 연동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대화 관리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피드백 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UI, 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피드백 검색 통합</a:t>
                      </a: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endParaRPr lang="ko-KR" altLang="en-US" sz="1500" b="0" i="1" u="none" strike="noStrike" spc="-1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5509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500" i="1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개인화 추천 시스템</a:t>
                      </a:r>
                      <a:endParaRPr kumimoji="0" lang="ko-KR" altLang="en-US" sz="1500" b="1" i="1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0" marR="84930" marT="42485" marB="4248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500" b="1" spc="-100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▶ 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06/26(</a:t>
                      </a:r>
                      <a:r>
                        <a:rPr lang="ko-KR" altLang="en-US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금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) ~ 06/29(</a:t>
                      </a:r>
                      <a:r>
                        <a:rPr lang="ko-KR" altLang="en-US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월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)</a:t>
                      </a:r>
                      <a:endParaRPr lang="en-US" altLang="ko-KR" sz="1500" b="0" i="1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벡터 </a:t>
                      </a:r>
                      <a:r>
                        <a:rPr lang="ko-KR" altLang="en-US" sz="1500" b="0" i="1" u="none" strike="noStrike" spc="-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임베딩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기초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사용자 선호 벡터 학습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개인화 랭킹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콜드 스타트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통합가이드</a:t>
                      </a: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947352"/>
                  </a:ext>
                </a:extLst>
              </a:tr>
              <a:tr h="4772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500" i="1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LLM </a:t>
                      </a:r>
                      <a:r>
                        <a:rPr kumimoji="0" lang="ko-KR" altLang="en-US" sz="1500" i="1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오케스트레이션</a:t>
                      </a:r>
                      <a:endParaRPr kumimoji="0" lang="ko-KR" altLang="en-US" sz="1500" b="1" i="1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0" marR="84930" marT="42485" marB="4248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500" b="1" spc="-100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▶ 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06/26(</a:t>
                      </a:r>
                      <a:r>
                        <a:rPr lang="ko-KR" altLang="en-US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금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) ~ 06/27(</a:t>
                      </a:r>
                      <a:r>
                        <a:rPr lang="ko-KR" altLang="en-US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월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)</a:t>
                      </a:r>
                      <a:endParaRPr lang="en-US" altLang="ko-KR" sz="1500" b="0" i="1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개요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시나리오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단일 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Function, 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복수 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Function 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조합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외부 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API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연동</a:t>
                      </a: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3437" marR="3915" marT="3915" marB="0" anchor="ctr"/>
                </a:tc>
                <a:extLst>
                  <a:ext uri="{0D108BD9-81ED-4DB2-BD59-A6C34878D82A}">
                    <a16:rowId xmlns:a16="http://schemas.microsoft.com/office/drawing/2014/main" val="1771615870"/>
                  </a:ext>
                </a:extLst>
              </a:tr>
              <a:tr h="4772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500" i="1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최종 통합 발표 준비</a:t>
                      </a:r>
                      <a:endParaRPr kumimoji="0" lang="ko-KR" altLang="en-US" sz="1500" b="1" i="1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0" marR="84930" marT="42485" marB="4248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500" b="1" spc="-100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▶ 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06/26(</a:t>
                      </a:r>
                      <a:r>
                        <a:rPr lang="ko-KR" altLang="en-US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금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) ~ 06/27(</a:t>
                      </a:r>
                      <a:r>
                        <a:rPr lang="ko-KR" altLang="en-US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월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)</a:t>
                      </a:r>
                      <a:endParaRPr lang="en-US" altLang="ko-KR" sz="1500" b="0" i="1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전체 가능 통합 테스트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시연 시나리오 구성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최종 보고서 작성</a:t>
                      </a: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3437" marR="3915" marT="3915" marB="0" anchor="ctr"/>
                </a:tc>
                <a:extLst>
                  <a:ext uri="{0D108BD9-81ED-4DB2-BD59-A6C34878D82A}">
                    <a16:rowId xmlns:a16="http://schemas.microsoft.com/office/drawing/2014/main" val="2030244459"/>
                  </a:ext>
                </a:extLst>
              </a:tr>
              <a:tr h="4772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500" i="1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총 개발 기간</a:t>
                      </a:r>
                      <a:endParaRPr kumimoji="0" lang="ko-KR" altLang="en-US" sz="1500" b="1" i="1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0" marR="84930" marT="42485" marB="4248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500" b="1" spc="-100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▶ 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06/17(</a:t>
                      </a:r>
                      <a:r>
                        <a:rPr lang="ko-KR" altLang="en-US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수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) ~ 06/29(</a:t>
                      </a:r>
                      <a:r>
                        <a:rPr lang="ko-KR" altLang="en-US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월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)</a:t>
                      </a:r>
                      <a:endParaRPr lang="en-US" altLang="ko-KR" sz="1500" b="0" i="1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altLang="en-US" sz="1500" b="0" i="1" u="none" strike="noStrike" spc="-1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3437" marR="3915" marT="3915" marB="0" anchor="ctr"/>
                </a:tc>
                <a:extLst>
                  <a:ext uri="{0D108BD9-81ED-4DB2-BD59-A6C34878D82A}">
                    <a16:rowId xmlns:a16="http://schemas.microsoft.com/office/drawing/2014/main" val="3415157318"/>
                  </a:ext>
                </a:extLst>
              </a:tr>
            </a:tbl>
          </a:graphicData>
        </a:graphic>
      </p:graphicFrame>
      <p:sp>
        <p:nvSpPr>
          <p:cNvPr id="35" name="TextBox 3"/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03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336CA7-DD68-47ED-833D-9D1086CD5222}"/>
              </a:ext>
            </a:extLst>
          </p:cNvPr>
          <p:cNvSpPr txBox="1"/>
          <p:nvPr/>
        </p:nvSpPr>
        <p:spPr>
          <a:xfrm>
            <a:off x="1164392" y="313361"/>
            <a:ext cx="4185761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수행 절차 및 방법</a:t>
            </a: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A4C78107-0BE1-42E7-9701-50F4E32B0513}"/>
              </a:ext>
            </a:extLst>
          </p:cNvPr>
          <p:cNvCxnSpPr>
            <a:cxnSpLocks/>
          </p:cNvCxnSpPr>
          <p:nvPr/>
        </p:nvCxnSpPr>
        <p:spPr>
          <a:xfrm>
            <a:off x="5642243" y="790307"/>
            <a:ext cx="6008016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8384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5DF4D"/>
            </a:gs>
            <a:gs pos="44000">
              <a:srgbClr val="F5DF4D">
                <a:alpha val="70000"/>
                <a:lumMod val="90000"/>
                <a:lumOff val="10000"/>
              </a:srgbClr>
            </a:gs>
            <a:gs pos="71000">
              <a:srgbClr val="939597">
                <a:alpha val="70000"/>
                <a:lumMod val="99000"/>
                <a:lumOff val="1000"/>
              </a:srgbClr>
            </a:gs>
            <a:gs pos="100000">
              <a:srgbClr val="939597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227348" y="191995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TextBox 3"/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04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336CA7-DD68-47ED-833D-9D1086CD5222}"/>
              </a:ext>
            </a:extLst>
          </p:cNvPr>
          <p:cNvSpPr txBox="1"/>
          <p:nvPr/>
        </p:nvSpPr>
        <p:spPr>
          <a:xfrm>
            <a:off x="1164392" y="313361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수행 경과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DB9A24-7F99-18FD-9E74-BA71A3D289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08" y="829171"/>
            <a:ext cx="10503653" cy="57113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5DF4D"/>
            </a:gs>
            <a:gs pos="44000">
              <a:srgbClr val="F5DF4D">
                <a:alpha val="70000"/>
                <a:lumMod val="90000"/>
                <a:lumOff val="10000"/>
              </a:srgbClr>
            </a:gs>
            <a:gs pos="71000">
              <a:srgbClr val="939597">
                <a:alpha val="70000"/>
                <a:lumMod val="99000"/>
                <a:lumOff val="1000"/>
              </a:srgbClr>
            </a:gs>
            <a:gs pos="100000">
              <a:srgbClr val="939597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>
          <a:xfrm>
            <a:off x="227348" y="191995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3"/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04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336CA7-DD68-47ED-833D-9D1086CD5222}"/>
              </a:ext>
            </a:extLst>
          </p:cNvPr>
          <p:cNvSpPr txBox="1"/>
          <p:nvPr/>
        </p:nvSpPr>
        <p:spPr>
          <a:xfrm>
            <a:off x="1164392" y="313361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수행 경과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F09BF3-3375-2E68-1D6C-B131F6CD8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62" y="844570"/>
            <a:ext cx="9144076" cy="567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969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5DF4D"/>
            </a:gs>
            <a:gs pos="44000">
              <a:srgbClr val="F5DF4D">
                <a:alpha val="70000"/>
                <a:lumMod val="90000"/>
                <a:lumOff val="10000"/>
              </a:srgbClr>
            </a:gs>
            <a:gs pos="71000">
              <a:srgbClr val="939597">
                <a:alpha val="70000"/>
                <a:lumMod val="99000"/>
                <a:lumOff val="1000"/>
              </a:srgbClr>
            </a:gs>
            <a:gs pos="100000">
              <a:srgbClr val="939597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227348" y="191995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3"/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04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336CA7-DD68-47ED-833D-9D1086CD5222}"/>
              </a:ext>
            </a:extLst>
          </p:cNvPr>
          <p:cNvSpPr txBox="1"/>
          <p:nvPr/>
        </p:nvSpPr>
        <p:spPr>
          <a:xfrm>
            <a:off x="1164392" y="313361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수행 경과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18B174-D359-1050-842E-ED48E3EED3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280" y="798341"/>
            <a:ext cx="9529440" cy="5742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243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5DF4D"/>
            </a:gs>
            <a:gs pos="44000">
              <a:srgbClr val="F5DF4D">
                <a:alpha val="70000"/>
                <a:lumMod val="90000"/>
                <a:lumOff val="10000"/>
              </a:srgbClr>
            </a:gs>
            <a:gs pos="71000">
              <a:srgbClr val="939597">
                <a:alpha val="70000"/>
                <a:lumMod val="99000"/>
                <a:lumOff val="1000"/>
              </a:srgbClr>
            </a:gs>
            <a:gs pos="100000">
              <a:srgbClr val="939597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27348" y="191995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3"/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04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336CA7-DD68-47ED-833D-9D1086CD5222}"/>
              </a:ext>
            </a:extLst>
          </p:cNvPr>
          <p:cNvSpPr txBox="1"/>
          <p:nvPr/>
        </p:nvSpPr>
        <p:spPr>
          <a:xfrm>
            <a:off x="1164392" y="313361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수행 경과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E34B5F-845A-A040-8654-ACB6BB16D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892" y="817496"/>
            <a:ext cx="8896215" cy="572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286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5DF4D"/>
            </a:gs>
            <a:gs pos="44000">
              <a:srgbClr val="F5DF4D">
                <a:alpha val="70000"/>
                <a:lumMod val="90000"/>
                <a:lumOff val="10000"/>
              </a:srgbClr>
            </a:gs>
            <a:gs pos="71000">
              <a:srgbClr val="939597">
                <a:alpha val="70000"/>
                <a:lumMod val="99000"/>
                <a:lumOff val="1000"/>
              </a:srgbClr>
            </a:gs>
            <a:gs pos="100000">
              <a:srgbClr val="939597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27348" y="191995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3"/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04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336CA7-DD68-47ED-833D-9D1086CD5222}"/>
              </a:ext>
            </a:extLst>
          </p:cNvPr>
          <p:cNvSpPr txBox="1"/>
          <p:nvPr/>
        </p:nvSpPr>
        <p:spPr>
          <a:xfrm>
            <a:off x="1164392" y="313361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수행 경과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DCB3BD-A506-7A3E-D398-ED1CD67B1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994" y="890511"/>
            <a:ext cx="9142011" cy="5517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262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5DF4D"/>
            </a:gs>
            <a:gs pos="44000">
              <a:srgbClr val="F5DF4D">
                <a:alpha val="70000"/>
                <a:lumMod val="90000"/>
                <a:lumOff val="10000"/>
              </a:srgbClr>
            </a:gs>
            <a:gs pos="71000">
              <a:srgbClr val="939597">
                <a:alpha val="70000"/>
                <a:lumMod val="99000"/>
                <a:lumOff val="1000"/>
              </a:srgbClr>
            </a:gs>
            <a:gs pos="100000">
              <a:srgbClr val="939597"/>
            </a:gs>
          </a:gsLst>
          <a:lin ang="27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A2E764-024F-99B5-DA78-FDD226AD1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7D769AF6-7417-3813-DEF5-4ED27ADF430C}"/>
              </a:ext>
            </a:extLst>
          </p:cNvPr>
          <p:cNvSpPr/>
          <p:nvPr/>
        </p:nvSpPr>
        <p:spPr>
          <a:xfrm>
            <a:off x="227348" y="191995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F507E6E5-4840-00A3-F1C2-D9A00191F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04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250436-BF3D-DED6-C277-B2BDF596789C}"/>
              </a:ext>
            </a:extLst>
          </p:cNvPr>
          <p:cNvSpPr txBox="1"/>
          <p:nvPr/>
        </p:nvSpPr>
        <p:spPr>
          <a:xfrm>
            <a:off x="1164392" y="313361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수행 경과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8614F0-68A0-2A6D-99E2-D3CA8CC7A8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464" y="775026"/>
            <a:ext cx="9649072" cy="5825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308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5DF4D"/>
            </a:gs>
            <a:gs pos="44000">
              <a:srgbClr val="F5DF4D">
                <a:alpha val="70000"/>
                <a:lumMod val="90000"/>
                <a:lumOff val="10000"/>
              </a:srgbClr>
            </a:gs>
            <a:gs pos="71000">
              <a:srgbClr val="939597">
                <a:alpha val="70000"/>
                <a:lumMod val="99000"/>
                <a:lumOff val="1000"/>
              </a:srgbClr>
            </a:gs>
            <a:gs pos="100000">
              <a:srgbClr val="939597"/>
            </a:gs>
          </a:gsLst>
          <a:lin ang="27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7E3FFF-2EC1-09D6-B2FA-4FC0B4A73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94084FE5-0B0C-E503-4773-3F11350D54C7}"/>
              </a:ext>
            </a:extLst>
          </p:cNvPr>
          <p:cNvSpPr/>
          <p:nvPr/>
        </p:nvSpPr>
        <p:spPr>
          <a:xfrm>
            <a:off x="227348" y="191995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38ACDE09-5242-0811-64B8-0C1A16F6A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04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1497EE-DF9D-6DCD-9E2D-964DE6BADC99}"/>
              </a:ext>
            </a:extLst>
          </p:cNvPr>
          <p:cNvSpPr txBox="1"/>
          <p:nvPr/>
        </p:nvSpPr>
        <p:spPr>
          <a:xfrm>
            <a:off x="1164392" y="313361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수행 경과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926AC0-6B34-BEA3-7560-873BD1FD8A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464" y="775026"/>
            <a:ext cx="9649072" cy="5825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56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5DF4D"/>
            </a:gs>
            <a:gs pos="44000">
              <a:srgbClr val="F5DF4D">
                <a:alpha val="70000"/>
                <a:lumMod val="90000"/>
                <a:lumOff val="10000"/>
              </a:srgbClr>
            </a:gs>
            <a:gs pos="71000">
              <a:srgbClr val="939597">
                <a:alpha val="70000"/>
                <a:lumMod val="99000"/>
                <a:lumOff val="1000"/>
              </a:srgbClr>
            </a:gs>
            <a:gs pos="100000">
              <a:srgbClr val="939597"/>
            </a:gs>
          </a:gsLst>
          <a:lin ang="27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586895-58BC-5C7E-ABE9-59ABE21DF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95F5B13-079E-551B-CBE8-D13B8259E6DC}"/>
              </a:ext>
            </a:extLst>
          </p:cNvPr>
          <p:cNvSpPr/>
          <p:nvPr/>
        </p:nvSpPr>
        <p:spPr>
          <a:xfrm>
            <a:off x="227348" y="191995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AE96CEE0-BE56-6A7A-4A10-ED63273125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04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5C786D-CF4B-F162-F753-C77D055C0DDE}"/>
              </a:ext>
            </a:extLst>
          </p:cNvPr>
          <p:cNvSpPr txBox="1"/>
          <p:nvPr/>
        </p:nvSpPr>
        <p:spPr>
          <a:xfrm>
            <a:off x="1164392" y="313361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수행 경과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7532D1-5BAD-915A-16C2-CA035325A0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479" y="1625997"/>
            <a:ext cx="6020887" cy="36060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2E4FEA-D479-841C-B205-E9A2BC9A42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365" y="1625998"/>
            <a:ext cx="5622520" cy="360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784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5DF4D"/>
            </a:gs>
            <a:gs pos="44000">
              <a:srgbClr val="F5DF4D">
                <a:alpha val="70000"/>
                <a:lumMod val="90000"/>
                <a:lumOff val="10000"/>
              </a:srgbClr>
            </a:gs>
            <a:gs pos="71000">
              <a:srgbClr val="939597">
                <a:alpha val="70000"/>
                <a:lumMod val="99000"/>
                <a:lumOff val="1000"/>
              </a:srgbClr>
            </a:gs>
            <a:gs pos="100000">
              <a:srgbClr val="939597"/>
            </a:gs>
          </a:gsLst>
          <a:lin ang="27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67B0B0-ED6A-A0A1-1DA7-89236CA18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2AD4BAE2-4F67-1C38-6F84-4D3E403F922B}"/>
              </a:ext>
            </a:extLst>
          </p:cNvPr>
          <p:cNvSpPr/>
          <p:nvPr/>
        </p:nvSpPr>
        <p:spPr>
          <a:xfrm>
            <a:off x="227348" y="191995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C78DF532-44EC-CCA9-6CC0-CABDA3184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04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0CB3DB-988C-4E32-61AD-5C280AB72BC9}"/>
              </a:ext>
            </a:extLst>
          </p:cNvPr>
          <p:cNvSpPr txBox="1"/>
          <p:nvPr/>
        </p:nvSpPr>
        <p:spPr>
          <a:xfrm>
            <a:off x="1164392" y="313361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수행 경과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089515-9DD8-6DF8-C2CE-50BFB9E0D8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385" y="955240"/>
            <a:ext cx="10679230" cy="5465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8123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5DF4D"/>
            </a:gs>
            <a:gs pos="44000">
              <a:srgbClr val="F5DF4D">
                <a:alpha val="70000"/>
                <a:lumMod val="90000"/>
                <a:lumOff val="10000"/>
              </a:srgbClr>
            </a:gs>
            <a:gs pos="71000">
              <a:srgbClr val="939597">
                <a:alpha val="70000"/>
                <a:lumMod val="99000"/>
                <a:lumOff val="1000"/>
              </a:srgbClr>
            </a:gs>
            <a:gs pos="100000">
              <a:srgbClr val="939597"/>
            </a:gs>
          </a:gsLst>
          <a:lin ang="27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DDBEFC-AF15-3231-D876-37354159C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9B3F6BAA-FE06-CFD4-C69A-60C5503CD037}"/>
              </a:ext>
            </a:extLst>
          </p:cNvPr>
          <p:cNvSpPr/>
          <p:nvPr/>
        </p:nvSpPr>
        <p:spPr>
          <a:xfrm>
            <a:off x="227348" y="191995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4549C24D-9B9F-BF58-ABA4-00A90313CE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04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E1CD57-CDAC-99E9-101C-1410BDDF5F3D}"/>
              </a:ext>
            </a:extLst>
          </p:cNvPr>
          <p:cNvSpPr txBox="1"/>
          <p:nvPr/>
        </p:nvSpPr>
        <p:spPr>
          <a:xfrm>
            <a:off x="1164392" y="313361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수행 경과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30F73E-BA05-E18B-DCF7-DAA9BDB4F4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44" y="911567"/>
            <a:ext cx="10217917" cy="552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999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5DF4D"/>
            </a:gs>
            <a:gs pos="44000">
              <a:srgbClr val="F5DF4D">
                <a:alpha val="70000"/>
                <a:lumMod val="90000"/>
                <a:lumOff val="10000"/>
              </a:srgbClr>
            </a:gs>
            <a:gs pos="71000">
              <a:srgbClr val="939597">
                <a:alpha val="70000"/>
                <a:lumMod val="99000"/>
                <a:lumOff val="1000"/>
              </a:srgbClr>
            </a:gs>
            <a:gs pos="100000">
              <a:srgbClr val="939597"/>
            </a:gs>
          </a:gsLst>
          <a:lin ang="27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9EC5AB-0284-D8B6-BFAD-30619FFA9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D351B2FD-F86A-5767-40D8-B8D40863FBC7}"/>
              </a:ext>
            </a:extLst>
          </p:cNvPr>
          <p:cNvSpPr/>
          <p:nvPr/>
        </p:nvSpPr>
        <p:spPr>
          <a:xfrm>
            <a:off x="227348" y="191995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0A13A8C3-CCE6-1660-3C41-25BC643912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04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DC1CFD-5F52-668B-9FED-E0F38FA069D7}"/>
              </a:ext>
            </a:extLst>
          </p:cNvPr>
          <p:cNvSpPr txBox="1"/>
          <p:nvPr/>
        </p:nvSpPr>
        <p:spPr>
          <a:xfrm>
            <a:off x="1164392" y="313361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수행 경과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B5E059-67A5-C0F3-FB25-54C3520D25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079" y="860240"/>
            <a:ext cx="9843115" cy="562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312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5DF4D"/>
            </a:gs>
            <a:gs pos="44000">
              <a:srgbClr val="F5DF4D">
                <a:alpha val="70000"/>
                <a:lumMod val="90000"/>
                <a:lumOff val="10000"/>
              </a:srgbClr>
            </a:gs>
            <a:gs pos="71000">
              <a:srgbClr val="939597">
                <a:alpha val="70000"/>
                <a:lumMod val="99000"/>
                <a:lumOff val="1000"/>
              </a:srgbClr>
            </a:gs>
            <a:gs pos="100000">
              <a:srgbClr val="939597"/>
            </a:gs>
          </a:gsLst>
          <a:lin ang="27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F37BFA-F796-E733-B910-E1913DDE5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DA9B8CD-9EA5-C2D8-924F-4D4F5BD4AB3D}"/>
              </a:ext>
            </a:extLst>
          </p:cNvPr>
          <p:cNvSpPr/>
          <p:nvPr/>
        </p:nvSpPr>
        <p:spPr>
          <a:xfrm>
            <a:off x="227348" y="191995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4216129E-2007-BEC0-A86E-C8D8A697EA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04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E2A49A-807E-C0F5-291C-A18A4550434E}"/>
              </a:ext>
            </a:extLst>
          </p:cNvPr>
          <p:cNvSpPr txBox="1"/>
          <p:nvPr/>
        </p:nvSpPr>
        <p:spPr>
          <a:xfrm>
            <a:off x="1164392" y="313361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수행 경과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792BA8-666B-7556-719B-78A57EE7FD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785" y="1544369"/>
            <a:ext cx="5674050" cy="37444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2B2F3C-7887-FFC9-3805-D35DEEA3F3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56794"/>
            <a:ext cx="5814215" cy="373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9934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5DF4D"/>
            </a:gs>
            <a:gs pos="44000">
              <a:srgbClr val="F5DF4D">
                <a:alpha val="70000"/>
                <a:lumMod val="90000"/>
                <a:lumOff val="10000"/>
              </a:srgbClr>
            </a:gs>
            <a:gs pos="71000">
              <a:srgbClr val="939597">
                <a:alpha val="70000"/>
                <a:lumMod val="99000"/>
                <a:lumOff val="1000"/>
              </a:srgbClr>
            </a:gs>
            <a:gs pos="100000">
              <a:srgbClr val="939597"/>
            </a:gs>
          </a:gsLst>
          <a:lin ang="27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20A5BC-FA0C-A028-9410-39415415D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58E156D8-DCA0-A1F1-BFEE-B0784724ED48}"/>
              </a:ext>
            </a:extLst>
          </p:cNvPr>
          <p:cNvSpPr/>
          <p:nvPr/>
        </p:nvSpPr>
        <p:spPr>
          <a:xfrm>
            <a:off x="227348" y="191995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9E028900-361A-452C-8CEF-4B2C41AE9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04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83C0D6-3D79-3C2D-4A81-3B577BEBBD28}"/>
              </a:ext>
            </a:extLst>
          </p:cNvPr>
          <p:cNvSpPr txBox="1"/>
          <p:nvPr/>
        </p:nvSpPr>
        <p:spPr>
          <a:xfrm>
            <a:off x="1164392" y="313361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수행 경과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4B44D8D-86A7-19EF-BF15-764DD0694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041" y="905762"/>
            <a:ext cx="8047918" cy="5524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460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5DF4D"/>
            </a:gs>
            <a:gs pos="44000">
              <a:srgbClr val="F5DF4D">
                <a:alpha val="70000"/>
                <a:lumMod val="90000"/>
                <a:lumOff val="10000"/>
              </a:srgbClr>
            </a:gs>
            <a:gs pos="71000">
              <a:srgbClr val="939597">
                <a:alpha val="70000"/>
                <a:lumMod val="99000"/>
                <a:lumOff val="1000"/>
              </a:srgbClr>
            </a:gs>
            <a:gs pos="100000">
              <a:srgbClr val="939597"/>
            </a:gs>
          </a:gsLst>
          <a:lin ang="27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D4D196-9B1E-7AF4-60B5-C6642F059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7458C434-4373-7B63-589E-A33562C1DBA6}"/>
              </a:ext>
            </a:extLst>
          </p:cNvPr>
          <p:cNvSpPr/>
          <p:nvPr/>
        </p:nvSpPr>
        <p:spPr>
          <a:xfrm>
            <a:off x="227348" y="191995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2A852E6E-5923-724F-1F46-157C97D033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04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48058B-50FB-ED78-E00D-715E30DC0A15}"/>
              </a:ext>
            </a:extLst>
          </p:cNvPr>
          <p:cNvSpPr txBox="1"/>
          <p:nvPr/>
        </p:nvSpPr>
        <p:spPr>
          <a:xfrm>
            <a:off x="1164392" y="313361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수행 경과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B0E750-16E7-5EEB-F94F-85CFE1B39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02" y="1110517"/>
            <a:ext cx="7429463" cy="52622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93B9D17-64AB-C39B-8AE1-BA2210523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8565" y="470971"/>
            <a:ext cx="3770567" cy="7348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166F97-B8CA-CD9D-9B19-2B87B867F8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5688" y="1361775"/>
            <a:ext cx="3057333" cy="499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8928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5DF4D"/>
            </a:gs>
            <a:gs pos="44000">
              <a:srgbClr val="F5DF4D">
                <a:alpha val="70000"/>
                <a:lumMod val="90000"/>
                <a:lumOff val="10000"/>
              </a:srgbClr>
            </a:gs>
            <a:gs pos="71000">
              <a:srgbClr val="939597">
                <a:alpha val="70000"/>
                <a:lumMod val="99000"/>
                <a:lumOff val="1000"/>
              </a:srgbClr>
            </a:gs>
            <a:gs pos="100000">
              <a:srgbClr val="939597"/>
            </a:gs>
          </a:gsLst>
          <a:lin ang="27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CD5FB-B13E-8CDC-C98E-BD77F069A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2596CD27-0B1B-2870-3996-DE89B650646D}"/>
              </a:ext>
            </a:extLst>
          </p:cNvPr>
          <p:cNvSpPr/>
          <p:nvPr/>
        </p:nvSpPr>
        <p:spPr>
          <a:xfrm>
            <a:off x="227348" y="191995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DFC3EF39-EFB4-59D6-2CDC-4B4024A795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04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FE28CB-47A1-C7B2-4F68-3ACBAAD64C6F}"/>
              </a:ext>
            </a:extLst>
          </p:cNvPr>
          <p:cNvSpPr txBox="1"/>
          <p:nvPr/>
        </p:nvSpPr>
        <p:spPr>
          <a:xfrm>
            <a:off x="1164392" y="313361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수행 경과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BEC010-1DBA-1AAB-B48D-38158394FC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059" y="1808820"/>
            <a:ext cx="9773882" cy="3348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934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5DF4D"/>
            </a:gs>
            <a:gs pos="44000">
              <a:srgbClr val="F5DF4D">
                <a:alpha val="70000"/>
                <a:lumMod val="90000"/>
                <a:lumOff val="10000"/>
              </a:srgbClr>
            </a:gs>
            <a:gs pos="71000">
              <a:srgbClr val="939597">
                <a:alpha val="70000"/>
                <a:lumMod val="99000"/>
                <a:lumOff val="1000"/>
              </a:srgbClr>
            </a:gs>
            <a:gs pos="100000">
              <a:srgbClr val="939597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227348" y="197876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4C78107-0BE1-42E7-9701-50F4E32B0513}"/>
              </a:ext>
            </a:extLst>
          </p:cNvPr>
          <p:cNvCxnSpPr>
            <a:cxnSpLocks/>
          </p:cNvCxnSpPr>
          <p:nvPr/>
        </p:nvCxnSpPr>
        <p:spPr>
          <a:xfrm>
            <a:off x="3683732" y="790307"/>
            <a:ext cx="820426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3"/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05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336CA7-DD68-47ED-833D-9D1086CD5222}"/>
              </a:ext>
            </a:extLst>
          </p:cNvPr>
          <p:cNvSpPr txBox="1"/>
          <p:nvPr/>
        </p:nvSpPr>
        <p:spPr>
          <a:xfrm>
            <a:off x="1164392" y="313361"/>
            <a:ext cx="2339102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자체 평가 의견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7A6405-CE14-730F-0B87-42D884E48B91}"/>
              </a:ext>
            </a:extLst>
          </p:cNvPr>
          <p:cNvSpPr txBox="1"/>
          <p:nvPr/>
        </p:nvSpPr>
        <p:spPr>
          <a:xfrm>
            <a:off x="1127448" y="1664804"/>
            <a:ext cx="993710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사전 기획의 관점에서 프로젝트 결과물에 대한 완성도 평가</a:t>
            </a:r>
            <a:endParaRPr lang="en-US" altLang="ko-KR" b="1" dirty="0"/>
          </a:p>
          <a:p>
            <a:r>
              <a:rPr lang="ko-KR" altLang="en-US" sz="1500" dirty="0"/>
              <a:t>키워드 검색부터 </a:t>
            </a:r>
            <a:r>
              <a:rPr lang="ko-KR" altLang="en-US" sz="1500" dirty="0" err="1"/>
              <a:t>벡터・하이브리드</a:t>
            </a:r>
            <a:r>
              <a:rPr lang="ko-KR" altLang="en-US" sz="1500" dirty="0"/>
              <a:t> 검색</a:t>
            </a:r>
            <a:r>
              <a:rPr lang="en-US" altLang="ko-KR" sz="1500" dirty="0"/>
              <a:t>,</a:t>
            </a:r>
            <a:r>
              <a:rPr lang="ko-KR" altLang="en-US" sz="1500" dirty="0"/>
              <a:t> </a:t>
            </a:r>
            <a:r>
              <a:rPr lang="en-US" altLang="ko-KR" sz="1500" dirty="0"/>
              <a:t>RAG </a:t>
            </a:r>
            <a:r>
              <a:rPr lang="ko-KR" altLang="en-US" sz="1500" dirty="0"/>
              <a:t>기반 추천</a:t>
            </a:r>
            <a:r>
              <a:rPr lang="en-US" altLang="ko-KR" sz="1500" dirty="0"/>
              <a:t>,</a:t>
            </a:r>
            <a:r>
              <a:rPr lang="ko-KR" altLang="en-US" sz="1500" dirty="0"/>
              <a:t> 성능 최적화</a:t>
            </a:r>
            <a:r>
              <a:rPr lang="en-US" altLang="ko-KR" sz="1500" dirty="0"/>
              <a:t>,</a:t>
            </a:r>
            <a:r>
              <a:rPr lang="ko-KR" altLang="en-US" sz="1500" dirty="0"/>
              <a:t> </a:t>
            </a:r>
            <a:r>
              <a:rPr lang="ko-KR" altLang="en-US" sz="1500" dirty="0" err="1"/>
              <a:t>텔레그램</a:t>
            </a:r>
            <a:r>
              <a:rPr lang="ko-KR" altLang="en-US" sz="1500" dirty="0"/>
              <a:t> 봇 </a:t>
            </a:r>
            <a:r>
              <a:rPr lang="en-US" altLang="ko-KR" sz="1500" dirty="0"/>
              <a:t>UI, </a:t>
            </a:r>
            <a:r>
              <a:rPr lang="ko-KR" altLang="en-US" sz="1500" dirty="0"/>
              <a:t>개인화 추천</a:t>
            </a:r>
            <a:r>
              <a:rPr lang="en-US" altLang="ko-KR" sz="1500" dirty="0"/>
              <a:t>,</a:t>
            </a:r>
            <a:r>
              <a:rPr lang="ko-KR" altLang="en-US" sz="1500" dirty="0"/>
              <a:t> </a:t>
            </a:r>
            <a:r>
              <a:rPr lang="en-US" altLang="ko-KR" sz="1500" dirty="0"/>
              <a:t>LLM</a:t>
            </a:r>
            <a:r>
              <a:rPr lang="ko-KR" altLang="en-US" sz="1500" dirty="0"/>
              <a:t> 오케스트레이션까지 기획했던 전 단계를 실제로 구현 및 연동했다는 점에서 완성도는 </a:t>
            </a:r>
            <a:r>
              <a:rPr lang="en-US" altLang="ko-KR" sz="1500" dirty="0"/>
              <a:t>9</a:t>
            </a:r>
            <a:r>
              <a:rPr lang="ko-KR" altLang="en-US" sz="1500" dirty="0"/>
              <a:t>점 수준으로 평가함</a:t>
            </a:r>
            <a:endParaRPr lang="en-US" altLang="ko-KR" sz="1500" dirty="0"/>
          </a:p>
          <a:p>
            <a:endParaRPr lang="en-US" altLang="ko-KR" dirty="0"/>
          </a:p>
          <a:p>
            <a:r>
              <a:rPr lang="ko-KR" altLang="en-US" b="1" dirty="0"/>
              <a:t>우리 팀이 잘한 부분과 아쉬운 점</a:t>
            </a:r>
            <a:endParaRPr lang="en-US" altLang="ko-KR" b="1" dirty="0"/>
          </a:p>
          <a:p>
            <a:r>
              <a:rPr lang="ko-KR" altLang="en-US" sz="1500" b="1" dirty="0"/>
              <a:t> </a:t>
            </a:r>
            <a:r>
              <a:rPr lang="en-US" altLang="ko-KR" sz="1500" b="1" dirty="0"/>
              <a:t>•</a:t>
            </a:r>
            <a:r>
              <a:rPr lang="ko-KR" altLang="en-US" sz="1500" b="1" dirty="0"/>
              <a:t> </a:t>
            </a:r>
            <a:r>
              <a:rPr lang="ko-KR" altLang="en-US" sz="1500" dirty="0"/>
              <a:t>잘한 점</a:t>
            </a:r>
            <a:r>
              <a:rPr lang="en-US" altLang="ko-KR" sz="1500" dirty="0"/>
              <a:t>:</a:t>
            </a:r>
            <a:r>
              <a:rPr lang="ko-KR" altLang="en-US" sz="1500" dirty="0"/>
              <a:t> 단순히 </a:t>
            </a:r>
            <a:r>
              <a:rPr lang="en-US" altLang="ko-KR" sz="1500" dirty="0"/>
              <a:t>AI</a:t>
            </a:r>
            <a:r>
              <a:rPr lang="ko-KR" altLang="en-US" sz="1500" dirty="0"/>
              <a:t> 기능을 붙이는데 그치지 않고</a:t>
            </a:r>
            <a:r>
              <a:rPr lang="en-US" altLang="ko-KR" sz="1500" dirty="0"/>
              <a:t>,</a:t>
            </a:r>
            <a:r>
              <a:rPr lang="ko-KR" altLang="en-US" sz="1500" dirty="0"/>
              <a:t> 키워드 검색의 한계를 직접 체감한 뒤 벡터 검색</a:t>
            </a:r>
            <a:r>
              <a:rPr lang="en-US" altLang="ko-KR" sz="1500" dirty="0"/>
              <a:t>,</a:t>
            </a:r>
            <a:r>
              <a:rPr lang="ko-KR" altLang="en-US" sz="1500" dirty="0"/>
              <a:t> </a:t>
            </a:r>
            <a:r>
              <a:rPr lang="en-US" altLang="ko-KR" sz="1500" dirty="0"/>
              <a:t>RAG</a:t>
            </a:r>
            <a:r>
              <a:rPr lang="ko-KR" altLang="en-US" sz="1500" dirty="0"/>
              <a:t>로 단계적으로 </a:t>
            </a:r>
            <a:r>
              <a:rPr lang="en-US" altLang="ko-KR" sz="1500" dirty="0"/>
              <a:t>	</a:t>
            </a:r>
            <a:r>
              <a:rPr lang="ko-KR" altLang="en-US" sz="1500" dirty="0"/>
              <a:t>결합해 응답 비용으로 절감한 것이 정량적 성과로 남음</a:t>
            </a:r>
            <a:endParaRPr lang="en-US" altLang="ko-KR" sz="1500" dirty="0"/>
          </a:p>
          <a:p>
            <a:r>
              <a:rPr lang="en-US" altLang="ko-KR" sz="1500" dirty="0"/>
              <a:t>•</a:t>
            </a:r>
            <a:r>
              <a:rPr lang="ko-KR" altLang="en-US" sz="1500" dirty="0"/>
              <a:t> 아쉬운 점</a:t>
            </a:r>
            <a:r>
              <a:rPr lang="en-US" altLang="ko-KR" sz="1500" dirty="0"/>
              <a:t>:</a:t>
            </a:r>
            <a:r>
              <a:rPr lang="ko-KR" altLang="en-US" sz="1500" dirty="0"/>
              <a:t> 실제 서비스 트래픽 기준의 </a:t>
            </a:r>
            <a:r>
              <a:rPr lang="en-US" altLang="ko-KR" sz="1500" dirty="0"/>
              <a:t>A/B</a:t>
            </a:r>
            <a:r>
              <a:rPr lang="ko-KR" altLang="en-US" sz="1500" dirty="0"/>
              <a:t>테스트나 정량적 검증이 충분하지 않음</a:t>
            </a:r>
            <a:r>
              <a:rPr lang="en-US" altLang="ko-KR" sz="1500" dirty="0"/>
              <a:t>,</a:t>
            </a:r>
            <a:r>
              <a:rPr lang="ko-KR" altLang="en-US" sz="1500" dirty="0"/>
              <a:t> </a:t>
            </a:r>
            <a:r>
              <a:rPr lang="ko-KR" altLang="en-US" sz="1500" dirty="0" err="1"/>
              <a:t>임베딩</a:t>
            </a:r>
            <a:r>
              <a:rPr lang="ko-KR" altLang="en-US" sz="1500" dirty="0"/>
              <a:t> 모델의 도메인 특화 </a:t>
            </a:r>
            <a:r>
              <a:rPr lang="en-US" altLang="ko-KR" sz="1500" dirty="0"/>
              <a:t>	</a:t>
            </a:r>
            <a:r>
              <a:rPr lang="ko-KR" altLang="en-US" sz="1500" dirty="0" err="1"/>
              <a:t>파인튜닝</a:t>
            </a:r>
            <a:r>
              <a:rPr lang="ko-KR" altLang="en-US" sz="1500" dirty="0"/>
              <a:t> 없이 범용 모델을 그대로 사용한 점도 한계로 남음</a:t>
            </a:r>
            <a:endParaRPr lang="en-US" altLang="ko-KR" sz="1500" dirty="0"/>
          </a:p>
          <a:p>
            <a:endParaRPr lang="en-US" altLang="ko-KR" dirty="0"/>
          </a:p>
          <a:p>
            <a:r>
              <a:rPr lang="ko-KR" altLang="en-US" b="1" dirty="0"/>
              <a:t>프로젝트 결과물의 추후 개선점이나 보안할 점</a:t>
            </a:r>
            <a:endParaRPr lang="en-US" altLang="ko-KR" b="1" dirty="0"/>
          </a:p>
          <a:p>
            <a:r>
              <a:rPr lang="en-US" altLang="ko-KR" sz="1500" dirty="0"/>
              <a:t>•</a:t>
            </a:r>
            <a:r>
              <a:rPr lang="ko-KR" altLang="en-US" sz="1500" dirty="0"/>
              <a:t> </a:t>
            </a:r>
            <a:r>
              <a:rPr lang="en-US" altLang="ko-KR" sz="1500" dirty="0"/>
              <a:t>MCP</a:t>
            </a:r>
            <a:r>
              <a:rPr lang="ko-KR" altLang="en-US" sz="1500" dirty="0"/>
              <a:t> 기반 외부 도구 연동 범위 확장 </a:t>
            </a:r>
            <a:r>
              <a:rPr lang="en-US" altLang="ko-KR" sz="1500" dirty="0"/>
              <a:t>(</a:t>
            </a:r>
            <a:r>
              <a:rPr lang="ko-KR" altLang="en-US" sz="1500" dirty="0"/>
              <a:t>신규 도서 등록</a:t>
            </a:r>
            <a:r>
              <a:rPr lang="en-US" altLang="ko-KR" sz="1500" dirty="0"/>
              <a:t>,</a:t>
            </a:r>
            <a:r>
              <a:rPr lang="ko-KR" altLang="en-US" sz="1500" dirty="0"/>
              <a:t> 벡터 재색인 자동화 등</a:t>
            </a:r>
            <a:r>
              <a:rPr lang="en-US" altLang="ko-KR" sz="1500" dirty="0"/>
              <a:t>)</a:t>
            </a:r>
          </a:p>
          <a:p>
            <a:r>
              <a:rPr lang="en-US" altLang="ko-KR" sz="1500" dirty="0"/>
              <a:t>•</a:t>
            </a:r>
            <a:r>
              <a:rPr lang="ko-KR" altLang="en-US" sz="1500" dirty="0"/>
              <a:t> </a:t>
            </a:r>
            <a:r>
              <a:rPr lang="en-US" altLang="ko-KR" sz="1500" dirty="0"/>
              <a:t>RabbitMQ/Redis</a:t>
            </a:r>
            <a:r>
              <a:rPr lang="ko-KR" altLang="en-US" sz="1500" dirty="0"/>
              <a:t> 등 인프라의 장애 </a:t>
            </a:r>
            <a:r>
              <a:rPr lang="ko-KR" altLang="en-US" sz="1500" dirty="0" err="1"/>
              <a:t>복구・모니터링</a:t>
            </a:r>
            <a:r>
              <a:rPr lang="ko-KR" altLang="en-US" sz="1500" dirty="0"/>
              <a:t> 체계 고도화</a:t>
            </a:r>
            <a:endParaRPr lang="en-US" altLang="ko-KR" sz="1500" dirty="0"/>
          </a:p>
          <a:p>
            <a:r>
              <a:rPr lang="en-US" altLang="ko-KR" sz="1500" dirty="0"/>
              <a:t>•</a:t>
            </a:r>
            <a:r>
              <a:rPr lang="ko-KR" altLang="en-US" sz="1500" dirty="0"/>
              <a:t> 도메인 특화 </a:t>
            </a:r>
            <a:r>
              <a:rPr lang="ko-KR" altLang="en-US" sz="1500" dirty="0" err="1"/>
              <a:t>임베딩</a:t>
            </a:r>
            <a:r>
              <a:rPr lang="ko-KR" altLang="en-US" sz="1500" dirty="0"/>
              <a:t> </a:t>
            </a:r>
            <a:r>
              <a:rPr lang="ko-KR" altLang="en-US" sz="1500" dirty="0" err="1"/>
              <a:t>파인튜닝을</a:t>
            </a:r>
            <a:r>
              <a:rPr lang="ko-KR" altLang="en-US" sz="1500" dirty="0"/>
              <a:t> 통한 검색 정확도 향상</a:t>
            </a:r>
            <a:endParaRPr lang="en-US" altLang="ko-KR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김당근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E431E"/>
      </a:accent1>
      <a:accent2>
        <a:srgbClr val="E41A00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2710</TotalTime>
  <Words>743</Words>
  <Application>Microsoft Macintosh PowerPoint</Application>
  <PresentationFormat>Widescreen</PresentationFormat>
  <Paragraphs>127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Noto Sans KR</vt:lpstr>
      <vt:lpstr>Calibri Light</vt:lpstr>
      <vt:lpstr>Arial</vt:lpstr>
      <vt:lpstr>Wingdings</vt:lpstr>
      <vt:lpstr>HY견고딕</vt:lpstr>
      <vt:lpstr>맑은 고딕</vt:lpstr>
      <vt:lpstr>Calibri</vt:lpstr>
      <vt:lpstr>휴먼둥근헤드라인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김다은</dc:creator>
  <cp:lastModifiedBy>Changhee Cho</cp:lastModifiedBy>
  <cp:revision>276</cp:revision>
  <cp:lastPrinted>2023-10-05T23:14:22Z</cp:lastPrinted>
  <dcterms:created xsi:type="dcterms:W3CDTF">2014-04-29T00:37:20Z</dcterms:created>
  <dcterms:modified xsi:type="dcterms:W3CDTF">2026-07-03T03:40:17Z</dcterms:modified>
</cp:coreProperties>
</file>