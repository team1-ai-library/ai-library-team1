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44" r:id="rId1"/>
  </p:sldMasterIdLst>
  <p:notesMasterIdLst>
    <p:notesMasterId r:id="rId29"/>
  </p:notesMasterIdLst>
  <p:sldIdLst>
    <p:sldId id="256" r:id="rId2"/>
    <p:sldId id="258" r:id="rId3"/>
    <p:sldId id="299" r:id="rId4"/>
    <p:sldId id="318" r:id="rId5"/>
    <p:sldId id="296" r:id="rId6"/>
    <p:sldId id="320" r:id="rId7"/>
    <p:sldId id="321" r:id="rId8"/>
    <p:sldId id="322" r:id="rId9"/>
    <p:sldId id="270" r:id="rId10"/>
    <p:sldId id="323" r:id="rId11"/>
    <p:sldId id="324" r:id="rId12"/>
    <p:sldId id="325" r:id="rId13"/>
    <p:sldId id="326" r:id="rId14"/>
    <p:sldId id="327" r:id="rId15"/>
    <p:sldId id="328" r:id="rId16"/>
    <p:sldId id="329" r:id="rId17"/>
    <p:sldId id="334" r:id="rId18"/>
    <p:sldId id="335" r:id="rId19"/>
    <p:sldId id="336" r:id="rId20"/>
    <p:sldId id="330" r:id="rId21"/>
    <p:sldId id="331" r:id="rId22"/>
    <p:sldId id="333" r:id="rId23"/>
    <p:sldId id="332" r:id="rId24"/>
    <p:sldId id="337" r:id="rId25"/>
    <p:sldId id="282" r:id="rId26"/>
    <p:sldId id="315" r:id="rId27"/>
    <p:sldId id="316" r:id="rId28"/>
  </p:sldIdLst>
  <p:sldSz cx="12192000" cy="6858000"/>
  <p:notesSz cx="6797675" cy="9926638"/>
  <p:embeddedFontLst>
    <p:embeddedFont>
      <p:font typeface="Noto Sans KR" panose="020B0200000000000000" pitchFamily="34" charset="-128"/>
      <p:regular r:id="rId30"/>
      <p:bold r:id="rId31"/>
    </p:embeddedFont>
    <p:embeddedFont>
      <p:font typeface="맑은 고딕" panose="020B0503020000020004" pitchFamily="34" charset="-127"/>
      <p:regular r:id="rId32"/>
      <p:bold r:id="rId33"/>
    </p:embeddedFont>
    <p:embeddedFont>
      <p:font typeface="휴먼둥근헤드라인" panose="02030504000101010101"/>
      <p:regular r:id="rId34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맑은 고딕" panose="020B0503020000020004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맑은 고딕" panose="020B0503020000020004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맑은 고딕" panose="020B0503020000020004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맑은 고딕" panose="020B0503020000020004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Calibri" panose="020F0502020204030204" pitchFamily="34" charset="0"/>
        <a:ea typeface="맑은 고딕" panose="020B0503020000020004" pitchFamily="50" charset="-127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Calibri" panose="020F0502020204030204" pitchFamily="34" charset="0"/>
        <a:ea typeface="맑은 고딕" panose="020B0503020000020004" pitchFamily="50" charset="-127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Calibri" panose="020F0502020204030204" pitchFamily="34" charset="0"/>
        <a:ea typeface="맑은 고딕" panose="020B0503020000020004" pitchFamily="50" charset="-127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Calibri" panose="020F0502020204030204" pitchFamily="34" charset="0"/>
        <a:ea typeface="맑은 고딕" panose="020B0503020000020004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2273" userDrawn="1">
          <p15:clr>
            <a:srgbClr val="A4A3A4"/>
          </p15:clr>
        </p15:guide>
        <p15:guide id="4" orient="horz" pos="23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DF4D"/>
    <a:srgbClr val="FE431E"/>
    <a:srgbClr val="939597"/>
    <a:srgbClr val="E41A00"/>
    <a:srgbClr val="F2F2F2"/>
    <a:srgbClr val="0165B2"/>
    <a:srgbClr val="445569"/>
    <a:srgbClr val="1F4E79"/>
    <a:srgbClr val="D9D9D9"/>
    <a:srgbClr val="8781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069" autoAdjust="0"/>
    <p:restoredTop sz="94660"/>
  </p:normalViewPr>
  <p:slideViewPr>
    <p:cSldViewPr>
      <p:cViewPr varScale="1">
        <p:scale>
          <a:sx n="125" d="100"/>
          <a:sy n="125" d="100"/>
        </p:scale>
        <p:origin x="168" y="224"/>
      </p:cViewPr>
      <p:guideLst>
        <p:guide orient="horz" pos="2160"/>
        <p:guide pos="3840"/>
        <p:guide orient="horz" pos="2273"/>
        <p:guide orient="horz" pos="236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3864" y="108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4B13090-954C-42B8-9E26-10AE906BFE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B5573C-C310-4726-9454-5731CB3903B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B23E853-DAFB-42BA-8E42-DDF83CF398B2}" type="datetimeFigureOut">
              <a:rPr lang="ko-KR" altLang="en-US"/>
              <a:pPr>
                <a:defRPr/>
              </a:pPr>
              <a:t>2026. 7. 4.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FD22152C-1816-43C7-B775-5E35B9F1B4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0B8D62B9-6FD8-43F2-9E77-9978E5CE90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 편집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97EA6A-DFF3-4031-B2DB-B8F0C59EF5B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483748-CC11-4FD5-9189-939F40637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2D6D723-6FAE-4977-A65A-290E950EFE4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71653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2D6D723-6FAE-4977-A65A-290E950EFE4D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609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각 삼각형 1">
            <a:extLst>
              <a:ext uri="{FF2B5EF4-FFF2-40B4-BE49-F238E27FC236}">
                <a16:creationId xmlns:a16="http://schemas.microsoft.com/office/drawing/2014/main" id="{365A99C7-F13B-47D8-B5BD-38E6F0CB361D}"/>
              </a:ext>
            </a:extLst>
          </p:cNvPr>
          <p:cNvSpPr/>
          <p:nvPr userDrawn="1"/>
        </p:nvSpPr>
        <p:spPr>
          <a:xfrm rot="5400000" flipH="1" flipV="1">
            <a:off x="11796713" y="6462713"/>
            <a:ext cx="334962" cy="45561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712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각 삼각형 1">
            <a:extLst>
              <a:ext uri="{FF2B5EF4-FFF2-40B4-BE49-F238E27FC236}">
                <a16:creationId xmlns:a16="http://schemas.microsoft.com/office/drawing/2014/main" id="{4C9F9D85-245D-487B-9B00-88B0B539706D}"/>
              </a:ext>
            </a:extLst>
          </p:cNvPr>
          <p:cNvSpPr/>
          <p:nvPr userDrawn="1"/>
        </p:nvSpPr>
        <p:spPr>
          <a:xfrm rot="5400000" flipH="1" flipV="1">
            <a:off x="11796713" y="6462713"/>
            <a:ext cx="334962" cy="455612"/>
          </a:xfrm>
          <a:prstGeom prst="rtTriangle">
            <a:avLst/>
          </a:prstGeom>
          <a:solidFill>
            <a:srgbClr val="4455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899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각 삼각형 1">
            <a:extLst>
              <a:ext uri="{FF2B5EF4-FFF2-40B4-BE49-F238E27FC236}">
                <a16:creationId xmlns:a16="http://schemas.microsoft.com/office/drawing/2014/main" id="{5D9AA456-0B6B-4E73-B0F7-E7ED14FCE978}"/>
              </a:ext>
            </a:extLst>
          </p:cNvPr>
          <p:cNvSpPr/>
          <p:nvPr userDrawn="1"/>
        </p:nvSpPr>
        <p:spPr>
          <a:xfrm rot="5400000" flipH="1" flipV="1">
            <a:off x="11796713" y="6462713"/>
            <a:ext cx="334962" cy="45561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712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각 삼각형 7">
            <a:extLst>
              <a:ext uri="{FF2B5EF4-FFF2-40B4-BE49-F238E27FC236}">
                <a16:creationId xmlns:a16="http://schemas.microsoft.com/office/drawing/2014/main" id="{79EBF7CE-BBD8-4458-A8ED-6DB61D7612E5}"/>
              </a:ext>
            </a:extLst>
          </p:cNvPr>
          <p:cNvSpPr/>
          <p:nvPr userDrawn="1"/>
        </p:nvSpPr>
        <p:spPr>
          <a:xfrm rot="5400000" flipH="1" flipV="1">
            <a:off x="11796713" y="6462713"/>
            <a:ext cx="334962" cy="45561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</p:sldLayoutIdLst>
  <p:txStyles>
    <p:titleStyle>
      <a:lvl1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2pPr>
      <a:lvl3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3pPr>
      <a:lvl4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4pPr>
      <a:lvl5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5pPr>
      <a:lvl6pPr marL="4572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6pPr>
      <a:lvl7pPr marL="9144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7pPr>
      <a:lvl8pPr marL="13716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8pPr>
      <a:lvl9pPr marL="18288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맑은 고딕" panose="020B0503020000020004" pitchFamily="50" charset="-127"/>
        </a:defRPr>
      </a:lvl9pPr>
    </p:titleStyle>
    <p:bodyStyle>
      <a:lvl1pPr marL="228600" indent="-228600" algn="l" rtl="0" eaLnBrk="0" fontAlgn="base" latinLnBrk="1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4A0F72E-1949-4219-AC42-014A834BDE88}"/>
              </a:ext>
            </a:extLst>
          </p:cNvPr>
          <p:cNvSpPr txBox="1"/>
          <p:nvPr/>
        </p:nvSpPr>
        <p:spPr>
          <a:xfrm>
            <a:off x="10847107" y="3933056"/>
            <a:ext cx="5158567" cy="369332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r>
              <a:rPr lang="en-US" altLang="ko-KR" sz="2400" b="1" dirty="0"/>
              <a:t>Team 1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1" y="1579670"/>
            <a:ext cx="12191999" cy="2190904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939597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2860" y="1803510"/>
            <a:ext cx="17366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NHN </a:t>
            </a:r>
            <a:r>
              <a: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아카데미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10859084" y="-40947"/>
            <a:ext cx="8851785" cy="286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C535B9-0206-4933-B3A2-FC73A8BF1A8F}"/>
              </a:ext>
            </a:extLst>
          </p:cNvPr>
          <p:cNvSpPr txBox="1"/>
          <p:nvPr/>
        </p:nvSpPr>
        <p:spPr>
          <a:xfrm>
            <a:off x="6816080" y="2330843"/>
            <a:ext cx="6768752" cy="615553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AI Library</a:t>
            </a:r>
            <a:endParaRPr lang="ko-KR" altLang="en-US" sz="40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-1907"/>
            <a:ext cx="12192000" cy="338554"/>
          </a:xfrm>
          <a:prstGeom prst="rect">
            <a:avLst/>
          </a:prstGeom>
          <a:solidFill>
            <a:srgbClr val="F5DF4D"/>
          </a:solidFill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/>
          <a:p>
            <a:pPr algn="ctr"/>
            <a:endParaRPr lang="ko-KR" altLang="en-US" sz="1600" spc="600" dirty="0">
              <a:solidFill>
                <a:schemeClr val="tx1">
                  <a:lumMod val="85000"/>
                  <a:lumOff val="1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10067" y="1700808"/>
            <a:ext cx="11971867" cy="1944216"/>
          </a:xfrm>
          <a:prstGeom prst="rect">
            <a:avLst/>
          </a:prstGeom>
          <a:noFill/>
          <a:ln w="15875">
            <a:solidFill>
              <a:srgbClr val="939597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6393E6-466C-AA91-1C07-48815B987B97}"/>
              </a:ext>
            </a:extLst>
          </p:cNvPr>
          <p:cNvSpPr txBox="1"/>
          <p:nvPr/>
        </p:nvSpPr>
        <p:spPr>
          <a:xfrm>
            <a:off x="215475" y="3199854"/>
            <a:ext cx="9888842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60"/>
              </a:lnSpc>
            </a:pPr>
            <a:r>
              <a:rPr lang="en-US" altLang="ko-KR" sz="1800" b="1" dirty="0">
                <a:solidFill>
                  <a:schemeClr val="accent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Pretendard" panose="02000503000000020004" pitchFamily="2" charset="-127"/>
              </a:rPr>
              <a:t>[NHN] </a:t>
            </a:r>
            <a:r>
              <a:rPr lang="ko-KR" altLang="en-US" sz="1800" b="1" dirty="0">
                <a:solidFill>
                  <a:schemeClr val="accent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Pretendard" panose="02000503000000020004" pitchFamily="2" charset="-127"/>
              </a:rPr>
              <a:t>인공지능 기반 </a:t>
            </a:r>
            <a:r>
              <a:rPr lang="en-US" altLang="ko-KR" sz="1800" b="1" dirty="0">
                <a:solidFill>
                  <a:schemeClr val="accent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Pretendard" panose="02000503000000020004" pitchFamily="2" charset="-127"/>
              </a:rPr>
              <a:t>IoT </a:t>
            </a:r>
            <a:r>
              <a:rPr lang="ko-KR" altLang="en-US" sz="1800" b="1" dirty="0">
                <a:solidFill>
                  <a:schemeClr val="accent5"/>
                </a:solidFill>
                <a:latin typeface="Noto Sans KR" panose="020B0200000000000000" pitchFamily="34" charset="-128"/>
                <a:ea typeface="Noto Sans KR" panose="020B0200000000000000" pitchFamily="34" charset="-128"/>
                <a:cs typeface="Pretendard" panose="02000503000000020004" pitchFamily="2" charset="-127"/>
              </a:rPr>
              <a:t>웹서비스 개발자 양성과정</a:t>
            </a:r>
            <a:endParaRPr lang="en-US" altLang="ko-KR" sz="1800" b="1" dirty="0">
              <a:solidFill>
                <a:schemeClr val="accent5"/>
              </a:solidFill>
              <a:latin typeface="Noto Sans KR" panose="020B0200000000000000" pitchFamily="34" charset="-128"/>
              <a:ea typeface="Noto Sans KR" panose="020B0200000000000000" pitchFamily="34" charset="-128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D8F2C5-D4AB-DB11-5584-66E4D35C7700}"/>
              </a:ext>
            </a:extLst>
          </p:cNvPr>
          <p:cNvSpPr txBox="1"/>
          <p:nvPr/>
        </p:nvSpPr>
        <p:spPr>
          <a:xfrm>
            <a:off x="8697559" y="4354685"/>
            <a:ext cx="3384375" cy="276999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lang="ko-KR" altLang="en-US" b="1" dirty="0"/>
              <a:t>손재민</a:t>
            </a:r>
            <a:r>
              <a:rPr lang="en-US" altLang="ko-KR" b="1" dirty="0"/>
              <a:t>,</a:t>
            </a:r>
            <a:r>
              <a:rPr lang="ko-KR" altLang="en-US" b="1" dirty="0"/>
              <a:t> 조창희</a:t>
            </a:r>
            <a:r>
              <a:rPr lang="en-US" altLang="ko-KR" b="1" dirty="0"/>
              <a:t>,</a:t>
            </a:r>
            <a:r>
              <a:rPr lang="ko-KR" altLang="en-US" b="1" dirty="0"/>
              <a:t> 강병호</a:t>
            </a:r>
            <a:r>
              <a:rPr lang="en-US" altLang="ko-KR" b="1" dirty="0"/>
              <a:t>,</a:t>
            </a:r>
            <a:r>
              <a:rPr lang="ko-KR" altLang="en-US" b="1" dirty="0"/>
              <a:t> 김동건</a:t>
            </a:r>
            <a:endParaRPr lang="en-US" altLang="ko-KR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939597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그림 5"/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231778" y="0"/>
            <a:ext cx="39616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F25AF93-4D09-4EFE-A590-77AE80F194E2}"/>
              </a:ext>
            </a:extLst>
          </p:cNvPr>
          <p:cNvSpPr txBox="1"/>
          <p:nvPr/>
        </p:nvSpPr>
        <p:spPr>
          <a:xfrm>
            <a:off x="6296549" y="1485945"/>
            <a:ext cx="3673068" cy="430887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01.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개요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41571E-D5AF-4658-8E5B-5F588CCC25FE}"/>
              </a:ext>
            </a:extLst>
          </p:cNvPr>
          <p:cNvSpPr txBox="1"/>
          <p:nvPr/>
        </p:nvSpPr>
        <p:spPr>
          <a:xfrm>
            <a:off x="6296549" y="2287034"/>
            <a:ext cx="4969212" cy="43088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02.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팀 구성 및 역할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A5B540-74AA-4CA6-904D-994DB65E4EB3}"/>
              </a:ext>
            </a:extLst>
          </p:cNvPr>
          <p:cNvSpPr txBox="1"/>
          <p:nvPr/>
        </p:nvSpPr>
        <p:spPr>
          <a:xfrm>
            <a:off x="6296549" y="3088123"/>
            <a:ext cx="5293248" cy="43088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03.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수행 절차 및 방법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0421BD-AD74-4354-9633-30BE8885A1C6}"/>
              </a:ext>
            </a:extLst>
          </p:cNvPr>
          <p:cNvSpPr txBox="1"/>
          <p:nvPr/>
        </p:nvSpPr>
        <p:spPr>
          <a:xfrm>
            <a:off x="6296549" y="3889212"/>
            <a:ext cx="4480049" cy="430887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04.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프로젝트 수행 경과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0421BD-AD74-4354-9633-30BE8885A1C6}"/>
              </a:ext>
            </a:extLst>
          </p:cNvPr>
          <p:cNvSpPr txBox="1"/>
          <p:nvPr/>
        </p:nvSpPr>
        <p:spPr>
          <a:xfrm>
            <a:off x="6296549" y="4690301"/>
            <a:ext cx="3205016" cy="430887"/>
          </a:xfrm>
          <a:prstGeom prst="rect">
            <a:avLst/>
          </a:prstGeom>
          <a:noFill/>
        </p:spPr>
        <p:txBody>
          <a:bodyPr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05. </a:t>
            </a:r>
            <a:r>
              <a:rPr lang="ko-KR" altLang="en-US" sz="2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자체 평가 의견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4CDDD06-C26E-49E8-A179-00D4CDF28DDF}"/>
              </a:ext>
            </a:extLst>
          </p:cNvPr>
          <p:cNvSpPr/>
          <p:nvPr/>
        </p:nvSpPr>
        <p:spPr bwMode="auto">
          <a:xfrm>
            <a:off x="1" y="0"/>
            <a:ext cx="5231780" cy="6858000"/>
          </a:xfrm>
          <a:prstGeom prst="rect">
            <a:avLst/>
          </a:prstGeom>
          <a:solidFill>
            <a:srgbClr val="F5DF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목차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5DF4D"/>
            </a:gs>
            <a:gs pos="44000">
              <a:srgbClr val="F5DF4D">
                <a:alpha val="70000"/>
                <a:lumMod val="90000"/>
                <a:lumOff val="10000"/>
              </a:srgbClr>
            </a:gs>
            <a:gs pos="71000">
              <a:srgbClr val="939597">
                <a:alpha val="70000"/>
                <a:lumMod val="90000"/>
                <a:lumOff val="10000"/>
              </a:srgbClr>
            </a:gs>
            <a:gs pos="100000">
              <a:srgbClr val="939597"/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77420B-E004-D2DB-0A22-239F13B31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7F27BF35-C649-C9F0-C799-19FCA00DFC74}"/>
              </a:ext>
            </a:extLst>
          </p:cNvPr>
          <p:cNvSpPr/>
          <p:nvPr/>
        </p:nvSpPr>
        <p:spPr>
          <a:xfrm>
            <a:off x="304008" y="32018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12A36FA8-70BA-6157-A23D-EF91D4B23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01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8473704-5FF7-D599-CFB5-008458A55935}"/>
              </a:ext>
            </a:extLst>
          </p:cNvPr>
          <p:cNvCxnSpPr>
            <a:cxnSpLocks/>
          </p:cNvCxnSpPr>
          <p:nvPr/>
        </p:nvCxnSpPr>
        <p:spPr>
          <a:xfrm>
            <a:off x="3935760" y="790307"/>
            <a:ext cx="795223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F103123-64D3-2C6A-BABB-4A6EB000282D}"/>
              </a:ext>
            </a:extLst>
          </p:cNvPr>
          <p:cNvSpPr txBox="1"/>
          <p:nvPr/>
        </p:nvSpPr>
        <p:spPr>
          <a:xfrm>
            <a:off x="1164392" y="313361"/>
            <a:ext cx="2185214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개요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E635E82-FFD4-36FA-6F23-F0F010377033}"/>
              </a:ext>
            </a:extLst>
          </p:cNvPr>
          <p:cNvSpPr/>
          <p:nvPr/>
        </p:nvSpPr>
        <p:spPr>
          <a:xfrm>
            <a:off x="1315170" y="1016732"/>
            <a:ext cx="5040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6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프로젝트 주제 및 선정 배경</a:t>
            </a:r>
            <a:r>
              <a:rPr lang="en-US" altLang="ko-KR" sz="16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6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기획의도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C299D86-1B60-6EF8-AD32-A249E726A49B}"/>
              </a:ext>
            </a:extLst>
          </p:cNvPr>
          <p:cNvSpPr/>
          <p:nvPr/>
        </p:nvSpPr>
        <p:spPr>
          <a:xfrm>
            <a:off x="1399184" y="1459227"/>
            <a:ext cx="8496004" cy="44473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500" b="1" i="1" spc="-150" dirty="0">
                <a:latin typeface="+mn-ea"/>
                <a:ea typeface="+mn-ea"/>
              </a:rPr>
              <a:t>주제</a:t>
            </a:r>
            <a:r>
              <a:rPr lang="en-US" altLang="ko-KR" sz="1500" b="1" i="1" spc="-150" dirty="0">
                <a:latin typeface="+mn-ea"/>
                <a:ea typeface="+mn-ea"/>
              </a:rPr>
              <a:t>:</a:t>
            </a:r>
            <a:r>
              <a:rPr lang="ko-KR" altLang="en-US" sz="1500" b="1" i="1" spc="-150" dirty="0">
                <a:latin typeface="+mn-ea"/>
                <a:ea typeface="+mn-ea"/>
              </a:rPr>
              <a:t> </a:t>
            </a:r>
            <a:endParaRPr lang="en-US" altLang="ko-KR" sz="1500" b="1" i="1" spc="-150" dirty="0">
              <a:latin typeface="+mn-ea"/>
              <a:ea typeface="+mn-ea"/>
            </a:endParaRPr>
          </a:p>
          <a:p>
            <a:pPr>
              <a:defRPr/>
            </a:pPr>
            <a:r>
              <a:rPr lang="en-US" altLang="ko-KR" sz="1300" spc="-150" dirty="0">
                <a:latin typeface="+mn-ea"/>
                <a:ea typeface="+mn-ea"/>
              </a:rPr>
              <a:t>AI </a:t>
            </a:r>
            <a:r>
              <a:rPr lang="ko-KR" altLang="en-US" sz="1300" spc="-150" dirty="0">
                <a:latin typeface="+mn-ea"/>
                <a:ea typeface="+mn-ea"/>
              </a:rPr>
              <a:t>기반 도서 추천 및 도서관 정보 서비스</a:t>
            </a:r>
            <a:endParaRPr lang="en-US" altLang="ko-KR" sz="1300" spc="-150" dirty="0">
              <a:latin typeface="+mn-ea"/>
              <a:ea typeface="+mn-ea"/>
            </a:endParaRPr>
          </a:p>
          <a:p>
            <a:pPr>
              <a:defRPr/>
            </a:pPr>
            <a:r>
              <a:rPr lang="en-US" altLang="ko-KR" sz="1300" spc="-150" dirty="0">
                <a:latin typeface="+mn-ea"/>
                <a:ea typeface="+mn-ea"/>
              </a:rPr>
              <a:t>Spring AI</a:t>
            </a:r>
            <a:r>
              <a:rPr lang="ko-KR" altLang="en-US" sz="1300" spc="-150" dirty="0">
                <a:latin typeface="+mn-ea"/>
                <a:ea typeface="+mn-ea"/>
              </a:rPr>
              <a:t>와 </a:t>
            </a:r>
            <a:r>
              <a:rPr lang="en-US" altLang="ko-KR" sz="1300" spc="-150" dirty="0">
                <a:latin typeface="+mn-ea"/>
                <a:ea typeface="+mn-ea"/>
              </a:rPr>
              <a:t>LLM</a:t>
            </a:r>
            <a:r>
              <a:rPr lang="ko-KR" altLang="en-US" sz="1300" spc="-150" dirty="0">
                <a:latin typeface="+mn-ea"/>
                <a:ea typeface="+mn-ea"/>
              </a:rPr>
              <a:t>을 활용하여 자연어 질문으로 도서를 </a:t>
            </a:r>
            <a:r>
              <a:rPr lang="ko-KR" altLang="en-US" sz="1300" spc="-150" dirty="0" err="1">
                <a:latin typeface="+mn-ea"/>
                <a:ea typeface="+mn-ea"/>
              </a:rPr>
              <a:t>추천받고</a:t>
            </a:r>
            <a:r>
              <a:rPr lang="en-US" altLang="ko-KR" sz="1300" spc="-150" dirty="0">
                <a:latin typeface="+mn-ea"/>
                <a:ea typeface="+mn-ea"/>
              </a:rPr>
              <a:t>,</a:t>
            </a:r>
            <a:r>
              <a:rPr lang="ko-KR" altLang="en-US" sz="1300" spc="-150" dirty="0">
                <a:latin typeface="+mn-ea"/>
                <a:ea typeface="+mn-ea"/>
              </a:rPr>
              <a:t> 실시간 소장</a:t>
            </a:r>
            <a:r>
              <a:rPr lang="en-US" altLang="ko-KR" sz="1300" spc="-150" dirty="0">
                <a:latin typeface="+mn-ea"/>
                <a:ea typeface="+mn-ea"/>
              </a:rPr>
              <a:t>/</a:t>
            </a:r>
            <a:r>
              <a:rPr lang="ko-KR" altLang="en-US" sz="1300" spc="-150" dirty="0">
                <a:latin typeface="+mn-ea"/>
                <a:ea typeface="+mn-ea"/>
              </a:rPr>
              <a:t>대출 정보까지 통합 제공하는 스마트 도서관 플랫폼</a:t>
            </a:r>
            <a:endParaRPr lang="en-US" altLang="ko-KR" sz="1300" spc="-150" dirty="0">
              <a:latin typeface="+mn-ea"/>
              <a:ea typeface="+mn-ea"/>
            </a:endParaRPr>
          </a:p>
          <a:p>
            <a:pPr>
              <a:defRPr/>
            </a:pPr>
            <a:endParaRPr lang="en-US" altLang="ko-KR" sz="1500" b="1" spc="-15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1500" b="1" i="1" spc="-150" dirty="0">
                <a:latin typeface="+mn-ea"/>
                <a:ea typeface="+mn-ea"/>
              </a:rPr>
              <a:t>선정 배경</a:t>
            </a:r>
            <a:r>
              <a:rPr lang="en-US" altLang="ko-KR" sz="1500" b="1" i="1" spc="-150" dirty="0">
                <a:latin typeface="+mn-ea"/>
                <a:ea typeface="+mn-ea"/>
              </a:rPr>
              <a:t>:</a:t>
            </a:r>
          </a:p>
          <a:p>
            <a:pPr>
              <a:defRPr/>
            </a:pPr>
            <a:r>
              <a:rPr lang="ko-KR" altLang="en-US" sz="1300" spc="-150" dirty="0">
                <a:latin typeface="+mn-ea"/>
                <a:ea typeface="+mn-ea"/>
              </a:rPr>
              <a:t>기존 도서관 서비스는 단순 키워드 검색에 그쳐 사용자의 독서 목적이나 관심사를 반영한 추천이 어려웠다</a:t>
            </a:r>
            <a:r>
              <a:rPr lang="en-US" altLang="ko-KR" sz="1300" spc="-150" dirty="0">
                <a:latin typeface="+mn-ea"/>
                <a:ea typeface="+mn-ea"/>
              </a:rPr>
              <a:t>.</a:t>
            </a:r>
            <a:r>
              <a:rPr lang="ko-KR" altLang="en-US" sz="1300" spc="-150" dirty="0">
                <a:latin typeface="+mn-ea"/>
                <a:ea typeface="+mn-ea"/>
              </a:rPr>
              <a:t> 또한 도서 검색과 도서관 소장 정보가 분리되어 있어</a:t>
            </a:r>
            <a:r>
              <a:rPr lang="en-US" altLang="ko-KR" sz="1300" spc="-150" dirty="0">
                <a:latin typeface="+mn-ea"/>
                <a:ea typeface="+mn-ea"/>
              </a:rPr>
              <a:t>,</a:t>
            </a:r>
            <a:r>
              <a:rPr lang="ko-KR" altLang="en-US" sz="1300" spc="-150" dirty="0">
                <a:latin typeface="+mn-ea"/>
                <a:ea typeface="+mn-ea"/>
              </a:rPr>
              <a:t> 읽고 싶은 책을 어디서 빌릴 수 있는지 한 번에 확인하기 어렵다</a:t>
            </a:r>
            <a:r>
              <a:rPr lang="en-US" altLang="ko-KR" sz="1300" spc="-150" dirty="0">
                <a:latin typeface="+mn-ea"/>
                <a:ea typeface="+mn-ea"/>
              </a:rPr>
              <a:t>.</a:t>
            </a:r>
            <a:r>
              <a:rPr lang="ko-KR" altLang="en-US" sz="1300" spc="-150" dirty="0">
                <a:latin typeface="+mn-ea"/>
                <a:ea typeface="+mn-ea"/>
              </a:rPr>
              <a:t> 이러한 불편함을 해소하고자 </a:t>
            </a:r>
            <a:r>
              <a:rPr lang="en-US" altLang="ko-KR" sz="1300" spc="-150" dirty="0">
                <a:latin typeface="+mn-ea"/>
                <a:ea typeface="+mn-ea"/>
              </a:rPr>
              <a:t>AI</a:t>
            </a:r>
            <a:r>
              <a:rPr lang="ko-KR" altLang="en-US" sz="1300" spc="-150" dirty="0">
                <a:latin typeface="+mn-ea"/>
                <a:ea typeface="+mn-ea"/>
              </a:rPr>
              <a:t> 기술을 도서관 서비스에 접목하였다</a:t>
            </a:r>
            <a:r>
              <a:rPr lang="en-US" altLang="ko-KR" sz="1300" spc="-150" dirty="0">
                <a:latin typeface="+mn-ea"/>
                <a:ea typeface="+mn-ea"/>
              </a:rPr>
              <a:t>.</a:t>
            </a:r>
            <a:r>
              <a:rPr lang="ko-KR" altLang="en-US" sz="1300" spc="-150" dirty="0">
                <a:latin typeface="+mn-ea"/>
                <a:ea typeface="+mn-ea"/>
              </a:rPr>
              <a:t> </a:t>
            </a:r>
            <a:endParaRPr lang="en-US" altLang="ko-KR" sz="1500" spc="-150" dirty="0">
              <a:latin typeface="+mn-ea"/>
              <a:ea typeface="+mn-ea"/>
            </a:endParaRPr>
          </a:p>
          <a:p>
            <a:pPr>
              <a:defRPr/>
            </a:pPr>
            <a:endParaRPr lang="en-US" altLang="ko-KR" sz="1500" spc="-150" dirty="0"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1500" b="1" i="1" spc="-150" dirty="0">
                <a:latin typeface="+mn-ea"/>
                <a:ea typeface="+mn-ea"/>
              </a:rPr>
              <a:t>기획 의도</a:t>
            </a:r>
            <a:r>
              <a:rPr lang="en-US" altLang="ko-KR" sz="1500" b="1" i="1" spc="-150" dirty="0">
                <a:latin typeface="+mn-ea"/>
                <a:ea typeface="+mn-ea"/>
              </a:rPr>
              <a:t>:</a:t>
            </a:r>
          </a:p>
          <a:p>
            <a:pPr marL="285750" indent="-285750">
              <a:buFontTx/>
              <a:buChar char="-"/>
              <a:defRPr/>
            </a:pPr>
            <a:r>
              <a:rPr lang="ko-KR" altLang="en-US" sz="1300" spc="-150" dirty="0">
                <a:latin typeface="+mn-ea"/>
                <a:ea typeface="+mn-ea"/>
              </a:rPr>
              <a:t>자연어 기반 도서 추천</a:t>
            </a:r>
            <a:r>
              <a:rPr lang="en-US" altLang="ko-KR" sz="1300" spc="-150" dirty="0">
                <a:latin typeface="+mn-ea"/>
                <a:ea typeface="+mn-ea"/>
              </a:rPr>
              <a:t>:</a:t>
            </a:r>
            <a:r>
              <a:rPr lang="ko-KR" altLang="en-US" sz="1300" spc="-150" dirty="0">
                <a:latin typeface="+mn-ea"/>
                <a:ea typeface="+mn-ea"/>
              </a:rPr>
              <a:t> 키워드가 아닌 </a:t>
            </a:r>
            <a:r>
              <a:rPr lang="en-US" altLang="ko-KR" sz="1300" spc="-150" dirty="0">
                <a:latin typeface="+mn-ea"/>
                <a:ea typeface="+mn-ea"/>
              </a:rPr>
              <a:t>＂</a:t>
            </a:r>
            <a:r>
              <a:rPr lang="ko-KR" altLang="en-US" sz="1300" spc="-150" dirty="0">
                <a:latin typeface="+mn-ea"/>
                <a:ea typeface="+mn-ea"/>
              </a:rPr>
              <a:t>파이썬 입문할 때 보기 좋은 책 추천해줘</a:t>
            </a:r>
            <a:r>
              <a:rPr lang="en-US" altLang="ko-KR" sz="1300" spc="-150" dirty="0">
                <a:latin typeface="+mn-ea"/>
                <a:ea typeface="+mn-ea"/>
              </a:rPr>
              <a:t>”</a:t>
            </a:r>
            <a:r>
              <a:rPr lang="ko-KR" altLang="en-US" sz="1300" spc="-150" dirty="0">
                <a:latin typeface="+mn-ea"/>
                <a:ea typeface="+mn-ea"/>
              </a:rPr>
              <a:t> 같은 자연어 질문으로 개인화된 도서를 </a:t>
            </a:r>
            <a:r>
              <a:rPr lang="ko-KR" altLang="en-US" sz="1300" spc="-150" dirty="0" err="1">
                <a:latin typeface="+mn-ea"/>
                <a:ea typeface="+mn-ea"/>
              </a:rPr>
              <a:t>추천받을</a:t>
            </a:r>
            <a:r>
              <a:rPr lang="ko-KR" altLang="en-US" sz="1300" spc="-150" dirty="0">
                <a:latin typeface="+mn-ea"/>
                <a:ea typeface="+mn-ea"/>
              </a:rPr>
              <a:t> 수 있도록 </a:t>
            </a:r>
            <a:r>
              <a:rPr lang="en-US" altLang="ko-KR" sz="1300" spc="-150" dirty="0">
                <a:latin typeface="+mn-ea"/>
                <a:ea typeface="+mn-ea"/>
              </a:rPr>
              <a:t>RAG(</a:t>
            </a:r>
            <a:r>
              <a:rPr lang="ko-KR" altLang="en-US" sz="1300" spc="-150" dirty="0">
                <a:latin typeface="+mn-ea"/>
                <a:ea typeface="+mn-ea"/>
              </a:rPr>
              <a:t>검색 증강 생성</a:t>
            </a:r>
            <a:r>
              <a:rPr lang="en-US" altLang="ko-KR" sz="1300" spc="-150" dirty="0">
                <a:latin typeface="+mn-ea"/>
                <a:ea typeface="+mn-ea"/>
              </a:rPr>
              <a:t>)</a:t>
            </a:r>
            <a:r>
              <a:rPr lang="ko-KR" altLang="en-US" sz="1300" spc="-150" dirty="0">
                <a:latin typeface="+mn-ea"/>
                <a:ea typeface="+mn-ea"/>
              </a:rPr>
              <a:t> 기술을 적용</a:t>
            </a:r>
            <a:endParaRPr lang="en-US" altLang="ko-KR" sz="1300" spc="-150" dirty="0">
              <a:latin typeface="+mn-ea"/>
              <a:ea typeface="+mn-ea"/>
            </a:endParaRPr>
          </a:p>
          <a:p>
            <a:pPr marL="285750" indent="-285750">
              <a:buFontTx/>
              <a:buChar char="-"/>
              <a:defRPr/>
            </a:pPr>
            <a:endParaRPr lang="en-US" altLang="ko-KR" sz="1300" spc="-150" dirty="0">
              <a:latin typeface="+mn-ea"/>
              <a:ea typeface="+mn-ea"/>
            </a:endParaRPr>
          </a:p>
          <a:p>
            <a:pPr marL="285750" indent="-285750">
              <a:buFontTx/>
              <a:buChar char="-"/>
              <a:defRPr/>
            </a:pPr>
            <a:r>
              <a:rPr lang="ko-KR" altLang="en-US" sz="1300" spc="-150" dirty="0">
                <a:latin typeface="+mn-ea"/>
                <a:ea typeface="+mn-ea"/>
              </a:rPr>
              <a:t>도서관 정보 통합</a:t>
            </a:r>
            <a:r>
              <a:rPr lang="en-US" altLang="ko-KR" sz="1300" spc="-150" dirty="0">
                <a:latin typeface="+mn-ea"/>
                <a:ea typeface="+mn-ea"/>
              </a:rPr>
              <a:t>:</a:t>
            </a:r>
            <a:r>
              <a:rPr lang="ko-KR" altLang="en-US" sz="1300" spc="-150" dirty="0">
                <a:latin typeface="+mn-ea"/>
                <a:ea typeface="+mn-ea"/>
              </a:rPr>
              <a:t> 도서관 정보나루 </a:t>
            </a:r>
            <a:r>
              <a:rPr lang="en-US" altLang="ko-KR" sz="1300" spc="-150" dirty="0">
                <a:latin typeface="+mn-ea"/>
                <a:ea typeface="+mn-ea"/>
              </a:rPr>
              <a:t>MCP Server</a:t>
            </a:r>
            <a:r>
              <a:rPr lang="ko-KR" altLang="en-US" sz="1300" spc="-150" dirty="0" err="1">
                <a:latin typeface="+mn-ea"/>
                <a:ea typeface="+mn-ea"/>
              </a:rPr>
              <a:t>를</a:t>
            </a:r>
            <a:r>
              <a:rPr lang="ko-KR" altLang="en-US" sz="1300" spc="-150" dirty="0">
                <a:latin typeface="+mn-ea"/>
                <a:ea typeface="+mn-ea"/>
              </a:rPr>
              <a:t> 연동하여 추천 도서의 소장 여부와 대출 가능 여부를 실시간으로 확인</a:t>
            </a:r>
            <a:endParaRPr lang="en-US" altLang="ko-KR" sz="1300" spc="-150" dirty="0">
              <a:latin typeface="+mn-ea"/>
              <a:ea typeface="+mn-ea"/>
            </a:endParaRPr>
          </a:p>
          <a:p>
            <a:pPr marL="285750" indent="-285750">
              <a:buFontTx/>
              <a:buChar char="-"/>
              <a:defRPr/>
            </a:pPr>
            <a:endParaRPr lang="en-US" altLang="ko-KR" sz="1300" spc="-150" dirty="0">
              <a:latin typeface="+mn-ea"/>
              <a:ea typeface="+mn-ea"/>
            </a:endParaRPr>
          </a:p>
          <a:p>
            <a:pPr marL="285750" indent="-285750">
              <a:buFontTx/>
              <a:buChar char="-"/>
              <a:defRPr/>
            </a:pPr>
            <a:r>
              <a:rPr lang="ko-KR" altLang="en-US" sz="1300" spc="-150" dirty="0">
                <a:latin typeface="+mn-ea"/>
                <a:ea typeface="+mn-ea"/>
              </a:rPr>
              <a:t>다양한 접근 채널</a:t>
            </a:r>
            <a:r>
              <a:rPr lang="en-US" altLang="ko-KR" sz="1300" spc="-150" dirty="0">
                <a:latin typeface="+mn-ea"/>
                <a:ea typeface="+mn-ea"/>
              </a:rPr>
              <a:t>:</a:t>
            </a:r>
            <a:r>
              <a:rPr lang="ko-KR" altLang="en-US" sz="1300" spc="-150" dirty="0">
                <a:latin typeface="+mn-ea"/>
                <a:ea typeface="+mn-ea"/>
              </a:rPr>
              <a:t> 웹 </a:t>
            </a:r>
            <a:r>
              <a:rPr lang="en-US" altLang="ko-KR" sz="1300" spc="-150" dirty="0">
                <a:latin typeface="+mn-ea"/>
                <a:ea typeface="+mn-ea"/>
              </a:rPr>
              <a:t>UI</a:t>
            </a:r>
            <a:r>
              <a:rPr lang="ko-KR" altLang="en-US" sz="1300" spc="-150" dirty="0">
                <a:latin typeface="+mn-ea"/>
                <a:ea typeface="+mn-ea"/>
              </a:rPr>
              <a:t> 뿐 아니라 </a:t>
            </a:r>
            <a:r>
              <a:rPr lang="ko-KR" altLang="en-US" sz="1300" spc="-150" dirty="0" err="1">
                <a:latin typeface="+mn-ea"/>
                <a:ea typeface="+mn-ea"/>
              </a:rPr>
              <a:t>텔레그램</a:t>
            </a:r>
            <a:r>
              <a:rPr lang="ko-KR" altLang="en-US" sz="1300" spc="-150" dirty="0">
                <a:latin typeface="+mn-ea"/>
                <a:ea typeface="+mn-ea"/>
              </a:rPr>
              <a:t> 봇을 통해 언제 어디서나 도서 추천과 도서관 </a:t>
            </a:r>
            <a:r>
              <a:rPr lang="ko-KR" altLang="en-US" sz="1300" spc="-150" dirty="0" err="1">
                <a:latin typeface="+mn-ea"/>
                <a:ea typeface="+mn-ea"/>
              </a:rPr>
              <a:t>챗봇</a:t>
            </a:r>
            <a:r>
              <a:rPr lang="ko-KR" altLang="en-US" sz="1300" spc="-150" dirty="0">
                <a:latin typeface="+mn-ea"/>
                <a:ea typeface="+mn-ea"/>
              </a:rPr>
              <a:t> 서비스 이용 가능</a:t>
            </a:r>
            <a:endParaRPr lang="en-US" altLang="ko-KR" sz="1300" spc="-150" dirty="0">
              <a:latin typeface="+mn-ea"/>
              <a:ea typeface="+mn-ea"/>
            </a:endParaRPr>
          </a:p>
          <a:p>
            <a:pPr marL="285750" indent="-285750">
              <a:buFontTx/>
              <a:buChar char="-"/>
              <a:defRPr/>
            </a:pPr>
            <a:endParaRPr lang="en-US" altLang="ko-KR" sz="1300" spc="-150" dirty="0">
              <a:latin typeface="+mn-ea"/>
              <a:ea typeface="+mn-ea"/>
            </a:endParaRPr>
          </a:p>
          <a:p>
            <a:pPr marL="285750" indent="-285750">
              <a:buFontTx/>
              <a:buChar char="-"/>
              <a:defRPr/>
            </a:pPr>
            <a:r>
              <a:rPr lang="ko-KR" altLang="en-US" sz="1300" spc="-150" dirty="0">
                <a:latin typeface="+mn-ea"/>
                <a:ea typeface="+mn-ea"/>
              </a:rPr>
              <a:t>사용자 피드백 기반 개인화</a:t>
            </a:r>
            <a:r>
              <a:rPr lang="en-US" altLang="ko-KR" sz="1300" spc="-150" dirty="0">
                <a:latin typeface="+mn-ea"/>
                <a:ea typeface="+mn-ea"/>
              </a:rPr>
              <a:t>:</a:t>
            </a:r>
            <a:r>
              <a:rPr lang="ko-KR" altLang="en-US" sz="1300" spc="-150" dirty="0">
                <a:latin typeface="+mn-ea"/>
                <a:ea typeface="+mn-ea"/>
              </a:rPr>
              <a:t> 추천 결과에 대한 좋아요</a:t>
            </a:r>
            <a:r>
              <a:rPr lang="en-US" altLang="ko-KR" sz="1300" spc="-150" dirty="0">
                <a:latin typeface="+mn-ea"/>
                <a:ea typeface="+mn-ea"/>
              </a:rPr>
              <a:t>/</a:t>
            </a:r>
            <a:r>
              <a:rPr lang="ko-KR" altLang="en-US" sz="1300" spc="-150" dirty="0">
                <a:latin typeface="+mn-ea"/>
                <a:ea typeface="+mn-ea"/>
              </a:rPr>
              <a:t>싫어요 피드백과 대출 이력을 분석하여 개인화된 추천 품질을 지속적으로 개선</a:t>
            </a:r>
            <a:endParaRPr lang="en-US" altLang="ko-KR" sz="1300" spc="-150" dirty="0">
              <a:latin typeface="+mn-ea"/>
              <a:ea typeface="+mn-ea"/>
            </a:endParaRPr>
          </a:p>
          <a:p>
            <a:pPr marL="285750" indent="-285750">
              <a:buFontTx/>
              <a:buChar char="-"/>
              <a:defRPr/>
            </a:pPr>
            <a:endParaRPr lang="en-US" altLang="ko-KR" sz="1300" spc="-150" dirty="0">
              <a:latin typeface="+mn-ea"/>
              <a:ea typeface="+mn-ea"/>
            </a:endParaRPr>
          </a:p>
          <a:p>
            <a:pPr marL="285750" indent="-285750">
              <a:buFontTx/>
              <a:buChar char="-"/>
              <a:defRPr/>
            </a:pPr>
            <a:r>
              <a:rPr lang="ko-KR" altLang="en-US" sz="1300" spc="-150" dirty="0">
                <a:latin typeface="+mn-ea"/>
                <a:ea typeface="+mn-ea"/>
              </a:rPr>
              <a:t>리뷰 </a:t>
            </a:r>
            <a:r>
              <a:rPr lang="en-US" altLang="ko-KR" sz="1300" spc="-150" dirty="0">
                <a:latin typeface="+mn-ea"/>
                <a:ea typeface="+mn-ea"/>
              </a:rPr>
              <a:t>AI </a:t>
            </a:r>
            <a:r>
              <a:rPr lang="ko-KR" altLang="en-US" sz="1300" spc="-150" dirty="0">
                <a:latin typeface="+mn-ea"/>
                <a:ea typeface="+mn-ea"/>
              </a:rPr>
              <a:t>요약</a:t>
            </a:r>
            <a:r>
              <a:rPr lang="en-US" altLang="ko-KR" sz="1300" spc="-150" dirty="0">
                <a:latin typeface="+mn-ea"/>
                <a:ea typeface="+mn-ea"/>
              </a:rPr>
              <a:t>:</a:t>
            </a:r>
            <a:r>
              <a:rPr lang="ko-KR" altLang="en-US" sz="1300" spc="-150" dirty="0">
                <a:latin typeface="+mn-ea"/>
                <a:ea typeface="+mn-ea"/>
              </a:rPr>
              <a:t> 다수의 리뷰를 </a:t>
            </a:r>
            <a:r>
              <a:rPr lang="en-US" altLang="ko-KR" sz="1300" spc="-150" dirty="0">
                <a:latin typeface="+mn-ea"/>
                <a:ea typeface="+mn-ea"/>
              </a:rPr>
              <a:t>AI</a:t>
            </a:r>
            <a:r>
              <a:rPr lang="ko-KR" altLang="en-US" sz="1300" spc="-150" dirty="0">
                <a:latin typeface="+mn-ea"/>
                <a:ea typeface="+mn-ea"/>
              </a:rPr>
              <a:t>가 자동으로 요약하여 도서 선택에 도움이 되는 핵심 정보를 제공</a:t>
            </a:r>
            <a:endParaRPr lang="en-US" altLang="ko-KR" sz="1300" spc="-150" dirty="0">
              <a:latin typeface="+mn-ea"/>
              <a:ea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9CA0DEF-D60D-16E8-7425-E4C82B85EEB6}"/>
              </a:ext>
            </a:extLst>
          </p:cNvPr>
          <p:cNvSpPr/>
          <p:nvPr/>
        </p:nvSpPr>
        <p:spPr>
          <a:xfrm>
            <a:off x="1048624" y="1074222"/>
            <a:ext cx="266546" cy="2665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3074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5DF4D"/>
            </a:gs>
            <a:gs pos="44000">
              <a:srgbClr val="F5DF4D">
                <a:alpha val="70000"/>
                <a:lumMod val="90000"/>
                <a:lumOff val="10000"/>
              </a:srgbClr>
            </a:gs>
            <a:gs pos="71000">
              <a:srgbClr val="939597">
                <a:alpha val="70000"/>
                <a:lumMod val="90000"/>
                <a:lumOff val="10000"/>
              </a:srgbClr>
            </a:gs>
            <a:gs pos="100000">
              <a:srgbClr val="939597"/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19CE56-A356-DDDE-37AC-C27DC93E0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5DD32ADD-6D3A-AAC4-9164-EFFA869F5069}"/>
              </a:ext>
            </a:extLst>
          </p:cNvPr>
          <p:cNvSpPr/>
          <p:nvPr/>
        </p:nvSpPr>
        <p:spPr>
          <a:xfrm>
            <a:off x="304008" y="32018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2684AF17-827D-83C8-CCEC-BF2AA27559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01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7D82EB0F-304A-5A8C-1EB9-B8BF63B94B2B}"/>
              </a:ext>
            </a:extLst>
          </p:cNvPr>
          <p:cNvCxnSpPr>
            <a:cxnSpLocks/>
          </p:cNvCxnSpPr>
          <p:nvPr/>
        </p:nvCxnSpPr>
        <p:spPr>
          <a:xfrm>
            <a:off x="3935760" y="790307"/>
            <a:ext cx="795223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B82068E-7118-C503-8D35-F16C2ECAFE9D}"/>
              </a:ext>
            </a:extLst>
          </p:cNvPr>
          <p:cNvSpPr txBox="1"/>
          <p:nvPr/>
        </p:nvSpPr>
        <p:spPr>
          <a:xfrm>
            <a:off x="1164392" y="313361"/>
            <a:ext cx="2185214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개요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9A9D04-F365-C03A-ADFA-5AAC88BC2CD5}"/>
              </a:ext>
            </a:extLst>
          </p:cNvPr>
          <p:cNvSpPr/>
          <p:nvPr/>
        </p:nvSpPr>
        <p:spPr>
          <a:xfrm>
            <a:off x="1315170" y="1016732"/>
            <a:ext cx="5040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6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프로젝트 내용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C549F71-ED9C-3926-F306-A5621181544B}"/>
              </a:ext>
            </a:extLst>
          </p:cNvPr>
          <p:cNvSpPr/>
          <p:nvPr/>
        </p:nvSpPr>
        <p:spPr>
          <a:xfrm>
            <a:off x="1048624" y="1074222"/>
            <a:ext cx="266546" cy="2665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7CC0D6A-B543-4D06-0038-F5D0BCD55556}"/>
              </a:ext>
            </a:extLst>
          </p:cNvPr>
          <p:cNvSpPr/>
          <p:nvPr/>
        </p:nvSpPr>
        <p:spPr>
          <a:xfrm>
            <a:off x="1309890" y="1448189"/>
            <a:ext cx="8841162" cy="45704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500" b="1" i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핵심 구현</a:t>
            </a:r>
            <a:r>
              <a:rPr lang="en-US" altLang="ko-KR" sz="1500" b="1" i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:</a:t>
            </a:r>
          </a:p>
          <a:p>
            <a:pPr>
              <a:defRPr/>
            </a:pPr>
            <a:r>
              <a:rPr lang="ko-KR" altLang="ko-KR" sz="1300" b="1" dirty="0"/>
              <a:t>하이브리드 검색 시스템</a:t>
            </a:r>
            <a:r>
              <a:rPr lang="ko-KR" altLang="ko-KR" sz="1300" dirty="0"/>
              <a:t>: 키워드 검색(</a:t>
            </a:r>
            <a:r>
              <a:rPr lang="ko-KR" altLang="ko-KR" sz="1300" dirty="0" err="1"/>
              <a:t>PostgreSQL</a:t>
            </a:r>
            <a:r>
              <a:rPr lang="ko-KR" altLang="ko-KR" sz="1300" dirty="0"/>
              <a:t> </a:t>
            </a:r>
            <a:r>
              <a:rPr lang="ko-KR" altLang="ko-KR" sz="1300" dirty="0" err="1"/>
              <a:t>tsvector</a:t>
            </a:r>
            <a:r>
              <a:rPr lang="ko-KR" altLang="ko-KR" sz="1300" dirty="0"/>
              <a:t>)과 벡터 검색(</a:t>
            </a:r>
            <a:r>
              <a:rPr lang="ko-KR" altLang="ko-KR" sz="1300" dirty="0" err="1"/>
              <a:t>pgvector</a:t>
            </a:r>
            <a:r>
              <a:rPr lang="ko-KR" altLang="ko-KR" sz="1300" dirty="0"/>
              <a:t> 코사인 유사도)을 병렬로 실행하고 RRF(</a:t>
            </a:r>
            <a:r>
              <a:rPr lang="ko-KR" altLang="ko-KR" sz="1300" dirty="0" err="1"/>
              <a:t>Reciprocal</a:t>
            </a:r>
            <a:r>
              <a:rPr lang="ko-KR" altLang="ko-KR" sz="1300" dirty="0"/>
              <a:t> </a:t>
            </a:r>
            <a:r>
              <a:rPr lang="ko-KR" altLang="ko-KR" sz="1300" dirty="0" err="1"/>
              <a:t>Rank</a:t>
            </a:r>
            <a:r>
              <a:rPr lang="ko-KR" altLang="ko-KR" sz="1300" dirty="0"/>
              <a:t> </a:t>
            </a:r>
            <a:r>
              <a:rPr lang="ko-KR" altLang="ko-KR" sz="1300" dirty="0" err="1"/>
              <a:t>Fusion</a:t>
            </a:r>
            <a:r>
              <a:rPr lang="ko-KR" altLang="ko-KR" sz="1300" dirty="0"/>
              <a:t>) 알고리즘으로 결합하여 검색 품질</a:t>
            </a:r>
            <a:r>
              <a:rPr lang="ko-KR" altLang="en-US" sz="1300" dirty="0"/>
              <a:t> 증진</a:t>
            </a:r>
            <a:endParaRPr lang="en-US" altLang="ko-KR" sz="1300" dirty="0"/>
          </a:p>
          <a:p>
            <a:pPr>
              <a:defRPr/>
            </a:pPr>
            <a:endParaRPr lang="en-US" altLang="ko-KR" sz="1300" dirty="0"/>
          </a:p>
          <a:p>
            <a:pPr>
              <a:defRPr/>
            </a:pPr>
            <a:r>
              <a:rPr lang="ko-KR" altLang="ko-KR" sz="1300" dirty="0"/>
              <a:t> </a:t>
            </a:r>
            <a:r>
              <a:rPr lang="ko-KR" altLang="ko-KR" sz="1300" b="1" dirty="0"/>
              <a:t>RAG 기반 도서 추천</a:t>
            </a:r>
            <a:r>
              <a:rPr lang="ko-KR" altLang="ko-KR" sz="1300" dirty="0"/>
              <a:t>: 자연어 질문을 </a:t>
            </a:r>
            <a:r>
              <a:rPr lang="ko-KR" altLang="ko-KR" sz="1300" dirty="0" err="1"/>
              <a:t>임베딩하여</a:t>
            </a:r>
            <a:r>
              <a:rPr lang="ko-KR" altLang="ko-KR" sz="1300" dirty="0"/>
              <a:t> 하이브리드 검색으로 후보 도서를 추출하고, LLM(</a:t>
            </a:r>
            <a:r>
              <a:rPr lang="ko-KR" altLang="ko-KR" sz="1300" dirty="0" err="1"/>
              <a:t>Gemini</a:t>
            </a:r>
            <a:r>
              <a:rPr lang="ko-KR" altLang="ko-KR" sz="1300" dirty="0"/>
              <a:t>/</a:t>
            </a:r>
            <a:r>
              <a:rPr lang="ko-KR" altLang="ko-KR" sz="1300" dirty="0" err="1"/>
              <a:t>Ollama</a:t>
            </a:r>
            <a:r>
              <a:rPr lang="ko-KR" altLang="ko-KR" sz="1300" dirty="0"/>
              <a:t>/</a:t>
            </a:r>
            <a:r>
              <a:rPr lang="ko-KR" altLang="ko-KR" sz="1300" dirty="0" err="1"/>
              <a:t>Local</a:t>
            </a:r>
            <a:r>
              <a:rPr lang="ko-KR" altLang="ko-KR" sz="1300" dirty="0"/>
              <a:t>)이 관련성과 추천 이유를 생성</a:t>
            </a:r>
            <a:endParaRPr lang="en-US" altLang="ko-KR" sz="1300" dirty="0"/>
          </a:p>
          <a:p>
            <a:pPr>
              <a:defRPr/>
            </a:pPr>
            <a:endParaRPr lang="en-US" altLang="ko-KR" sz="1300" dirty="0"/>
          </a:p>
          <a:p>
            <a:pPr>
              <a:defRPr/>
            </a:pPr>
            <a:r>
              <a:rPr lang="ko-KR" altLang="ko-KR" sz="1300" b="1" dirty="0" err="1"/>
              <a:t>시맨틱</a:t>
            </a:r>
            <a:r>
              <a:rPr lang="ko-KR" altLang="ko-KR" sz="1300" b="1" dirty="0"/>
              <a:t> </a:t>
            </a:r>
            <a:r>
              <a:rPr lang="ko-KR" altLang="ko-KR" sz="1300" b="1" dirty="0" err="1"/>
              <a:t>캐싱</a:t>
            </a:r>
            <a:r>
              <a:rPr lang="ko-KR" altLang="ko-KR" sz="1300" dirty="0"/>
              <a:t>: 질문 </a:t>
            </a:r>
            <a:r>
              <a:rPr lang="ko-KR" altLang="ko-KR" sz="1300" dirty="0" err="1"/>
              <a:t>임베딩</a:t>
            </a:r>
            <a:r>
              <a:rPr lang="ko-KR" altLang="ko-KR" sz="1300" dirty="0"/>
              <a:t> 벡터의 코사인 유사도를 비교하여 유사한 질문에 </a:t>
            </a:r>
            <a:r>
              <a:rPr lang="ko-KR" altLang="ko-KR" sz="1300" dirty="0" err="1"/>
              <a:t>캐시된</a:t>
            </a:r>
            <a:r>
              <a:rPr lang="ko-KR" altLang="ko-KR" sz="1300" dirty="0"/>
              <a:t> 결과를 반환함으로써 AI 호출 비용을 절감</a:t>
            </a:r>
            <a:endParaRPr lang="en-US" altLang="ko-KR" sz="1300" dirty="0"/>
          </a:p>
          <a:p>
            <a:pPr>
              <a:defRPr/>
            </a:pPr>
            <a:endParaRPr lang="en-US" altLang="ko-KR" sz="1300" dirty="0"/>
          </a:p>
          <a:p>
            <a:pPr>
              <a:defRPr/>
            </a:pPr>
            <a:r>
              <a:rPr lang="ko-KR" altLang="ko-KR" sz="1300" b="1" dirty="0"/>
              <a:t>MCP Server 연동</a:t>
            </a:r>
            <a:r>
              <a:rPr lang="ko-KR" altLang="ko-KR" sz="1300" dirty="0"/>
              <a:t>: 도서관 정보나루 </a:t>
            </a:r>
            <a:r>
              <a:rPr lang="ko-KR" altLang="ko-KR" sz="1300" dirty="0" err="1"/>
              <a:t>API를</a:t>
            </a:r>
            <a:r>
              <a:rPr lang="ko-KR" altLang="ko-KR" sz="1300" dirty="0"/>
              <a:t> MCP </a:t>
            </a:r>
            <a:r>
              <a:rPr lang="ko-KR" altLang="ko-KR" sz="1300" dirty="0" err="1"/>
              <a:t>Server로</a:t>
            </a:r>
            <a:r>
              <a:rPr lang="ko-KR" altLang="ko-KR" sz="1300" dirty="0"/>
              <a:t> 노출하여 </a:t>
            </a:r>
            <a:r>
              <a:rPr lang="ko-KR" altLang="ko-KR" sz="1300" dirty="0" err="1"/>
              <a:t>AI가</a:t>
            </a:r>
            <a:r>
              <a:rPr lang="ko-KR" altLang="ko-KR" sz="1300" dirty="0"/>
              <a:t> Tool </a:t>
            </a:r>
            <a:r>
              <a:rPr lang="ko-KR" altLang="ko-KR" sz="1300" dirty="0" err="1"/>
              <a:t>Calling으로</a:t>
            </a:r>
            <a:r>
              <a:rPr lang="ko-KR" altLang="ko-KR" sz="1300" dirty="0"/>
              <a:t> 도서 소장 여부, 대출 가능 도서관, 급상승 도서 등을 실시간으로 조회</a:t>
            </a:r>
            <a:endParaRPr lang="en-US" altLang="ko-KR" sz="1300" dirty="0"/>
          </a:p>
          <a:p>
            <a:pPr>
              <a:defRPr/>
            </a:pPr>
            <a:endParaRPr lang="en-US" altLang="ko-KR" sz="1300" dirty="0"/>
          </a:p>
          <a:p>
            <a:pPr>
              <a:defRPr/>
            </a:pPr>
            <a:r>
              <a:rPr lang="ko-KR" altLang="ko-KR" sz="1300" b="1" dirty="0"/>
              <a:t>리뷰 AI 요약</a:t>
            </a:r>
            <a:r>
              <a:rPr lang="ko-KR" altLang="ko-KR" sz="1300" dirty="0"/>
              <a:t>: 사용자 리뷰를 </a:t>
            </a:r>
            <a:r>
              <a:rPr lang="ko-KR" altLang="ko-KR" sz="1300" dirty="0" err="1"/>
              <a:t>LLM이</a:t>
            </a:r>
            <a:r>
              <a:rPr lang="ko-KR" altLang="ko-KR" sz="1300" dirty="0"/>
              <a:t> 자동 요약하여 도서 상세 페이지에 제공하며, </a:t>
            </a:r>
            <a:r>
              <a:rPr lang="ko-KR" altLang="ko-KR" sz="1300" dirty="0" err="1"/>
              <a:t>RabbitMQ</a:t>
            </a:r>
            <a:r>
              <a:rPr lang="ko-KR" altLang="ko-KR" sz="1300" dirty="0"/>
              <a:t> 이벤트 기반으로 비동기 처리</a:t>
            </a:r>
            <a:endParaRPr lang="en-US" altLang="ko-KR" sz="1300" dirty="0"/>
          </a:p>
          <a:p>
            <a:pPr>
              <a:defRPr/>
            </a:pPr>
            <a:endParaRPr lang="en-US" altLang="ko-KR" sz="1300" dirty="0"/>
          </a:p>
          <a:p>
            <a:pPr>
              <a:defRPr/>
            </a:pPr>
            <a:r>
              <a:rPr lang="ko-KR" altLang="ko-KR" sz="1300" b="1" dirty="0"/>
              <a:t>개인화 추천</a:t>
            </a:r>
            <a:r>
              <a:rPr lang="ko-KR" altLang="ko-KR" sz="1300" dirty="0"/>
              <a:t>: 사용자 피드백(좋아요/싫어요)과 대출 이력을 </a:t>
            </a:r>
            <a:r>
              <a:rPr lang="ko-KR" altLang="ko-KR" sz="1300" dirty="0" err="1"/>
              <a:t>벡터화하여</a:t>
            </a:r>
            <a:r>
              <a:rPr lang="ko-KR" altLang="ko-KR" sz="1300" dirty="0"/>
              <a:t> 선호도 점수를 산출하고 추천 결과에 반</a:t>
            </a:r>
            <a:r>
              <a:rPr lang="ko-KR" altLang="en-US" sz="1300" dirty="0"/>
              <a:t>영</a:t>
            </a:r>
            <a:r>
              <a:rPr lang="ko-KR" altLang="ko-KR" sz="1300" dirty="0"/>
              <a:t> </a:t>
            </a:r>
            <a:endParaRPr lang="en-US" altLang="ko-KR" sz="1300" dirty="0"/>
          </a:p>
          <a:p>
            <a:pPr>
              <a:defRPr/>
            </a:pPr>
            <a:endParaRPr lang="en-US" altLang="ko-KR" sz="1300" dirty="0"/>
          </a:p>
          <a:p>
            <a:pPr>
              <a:defRPr/>
            </a:pPr>
            <a:r>
              <a:rPr lang="ko-KR" altLang="ko-KR" sz="1300" b="1" dirty="0" err="1"/>
              <a:t>텔레그램</a:t>
            </a:r>
            <a:r>
              <a:rPr lang="ko-KR" altLang="ko-KR" sz="1300" b="1" dirty="0"/>
              <a:t> 봇</a:t>
            </a:r>
            <a:r>
              <a:rPr lang="ko-KR" altLang="ko-KR" sz="1300" dirty="0"/>
              <a:t>: 웹 UI 외에 </a:t>
            </a:r>
            <a:r>
              <a:rPr lang="ko-KR" altLang="ko-KR" sz="1300" dirty="0" err="1"/>
              <a:t>텔레그램</a:t>
            </a:r>
            <a:r>
              <a:rPr lang="ko-KR" altLang="ko-KR" sz="1300" dirty="0"/>
              <a:t> 채널을 통해 도서 추천 및 도서관 </a:t>
            </a:r>
            <a:r>
              <a:rPr lang="ko-KR" altLang="ko-KR" sz="1300" dirty="0" err="1"/>
              <a:t>챗봇</a:t>
            </a:r>
            <a:r>
              <a:rPr lang="ko-KR" altLang="ko-KR" sz="1300" dirty="0"/>
              <a:t> 서비스를 제</a:t>
            </a:r>
            <a:r>
              <a:rPr lang="ko-KR" altLang="en-US" sz="1300" dirty="0"/>
              <a:t>공</a:t>
            </a:r>
            <a:endParaRPr lang="en-US" altLang="ko-KR" sz="13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  <a:p>
            <a:pPr marL="285750" indent="-285750">
              <a:buFontTx/>
              <a:buChar char="-"/>
              <a:defRPr/>
            </a:pPr>
            <a:endParaRPr lang="en-US" altLang="ko-KR" sz="14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ko-KR" altLang="en-US" sz="1500" b="1" i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훈련 내용 연관성</a:t>
            </a:r>
            <a:r>
              <a:rPr lang="en-US" altLang="ko-KR" sz="1500" b="1" i="1" spc="-15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:</a:t>
            </a:r>
          </a:p>
          <a:p>
            <a:pPr>
              <a:defRPr/>
            </a:pPr>
            <a:r>
              <a:rPr lang="ko-KR" altLang="en-US" sz="1300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학습한 </a:t>
            </a:r>
            <a:r>
              <a:rPr lang="en-US" altLang="ko-KR" sz="1300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Spring Boot</a:t>
            </a:r>
            <a:r>
              <a:rPr lang="ko-KR" altLang="en-US" sz="1300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기반 </a:t>
            </a:r>
            <a:r>
              <a:rPr lang="ko-KR" altLang="en-US" sz="1300" spc="-150" dirty="0" err="1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백엔드</a:t>
            </a:r>
            <a:r>
              <a:rPr lang="ko-KR" altLang="en-US" sz="1300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개발</a:t>
            </a:r>
            <a:r>
              <a:rPr lang="en-US" altLang="ko-KR" sz="1300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,</a:t>
            </a:r>
            <a:r>
              <a:rPr lang="ko-KR" altLang="en-US" sz="1300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1300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PostgreSQL/</a:t>
            </a:r>
            <a:r>
              <a:rPr lang="en-US" altLang="ko-KR" sz="1300" spc="-150" dirty="0" err="1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pgvector</a:t>
            </a:r>
            <a:r>
              <a:rPr lang="ko-KR" altLang="en-US" sz="1300" spc="-150" dirty="0" err="1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를</a:t>
            </a:r>
            <a:r>
              <a:rPr lang="ko-KR" altLang="en-US" sz="1300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활용한 데이터 관리</a:t>
            </a:r>
            <a:r>
              <a:rPr lang="en-US" altLang="ko-KR" sz="1300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,</a:t>
            </a:r>
            <a:r>
              <a:rPr lang="ko-KR" altLang="en-US" sz="1300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1300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Spring AI</a:t>
            </a:r>
            <a:r>
              <a:rPr lang="ko-KR" altLang="en-US" sz="1300" spc="-150" dirty="0" err="1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를</a:t>
            </a:r>
            <a:r>
              <a:rPr lang="ko-KR" altLang="en-US" sz="1300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통한 </a:t>
            </a:r>
            <a:r>
              <a:rPr lang="en-US" altLang="ko-KR" sz="1300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LLM </a:t>
            </a:r>
            <a:r>
              <a:rPr lang="ko-KR" altLang="en-US" sz="1300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연동 및 </a:t>
            </a:r>
            <a:r>
              <a:rPr lang="en-US" altLang="ko-KR" sz="1300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RAG</a:t>
            </a:r>
            <a:r>
              <a:rPr lang="ko-KR" altLang="en-US" sz="1300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구현</a:t>
            </a:r>
            <a:r>
              <a:rPr lang="en-US" altLang="ko-KR" sz="1300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,</a:t>
            </a:r>
            <a:r>
              <a:rPr lang="ko-KR" altLang="en-US" sz="1300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1300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MCP </a:t>
            </a:r>
            <a:r>
              <a:rPr lang="ko-KR" altLang="en-US" sz="1300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프로토콜 기반 외부 </a:t>
            </a:r>
            <a:r>
              <a:rPr lang="en-US" altLang="ko-KR" sz="1300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API </a:t>
            </a:r>
            <a:r>
              <a:rPr lang="ko-KR" altLang="en-US" sz="1300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통합 등의 핵심 기술을 실제 서비스에 종합적으로 적용</a:t>
            </a:r>
            <a:endParaRPr lang="en-US" altLang="ko-KR" sz="1300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32549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5DF4D"/>
            </a:gs>
            <a:gs pos="44000">
              <a:srgbClr val="F5DF4D">
                <a:alpha val="70000"/>
                <a:lumMod val="90000"/>
                <a:lumOff val="10000"/>
              </a:srgbClr>
            </a:gs>
            <a:gs pos="71000">
              <a:srgbClr val="939597">
                <a:alpha val="70000"/>
                <a:lumMod val="90000"/>
                <a:lumOff val="10000"/>
              </a:srgbClr>
            </a:gs>
            <a:gs pos="100000">
              <a:srgbClr val="939597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61415" y="299769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3"/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01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4C78107-0BE1-42E7-9701-50F4E32B0513}"/>
              </a:ext>
            </a:extLst>
          </p:cNvPr>
          <p:cNvCxnSpPr>
            <a:cxnSpLocks/>
          </p:cNvCxnSpPr>
          <p:nvPr/>
        </p:nvCxnSpPr>
        <p:spPr>
          <a:xfrm>
            <a:off x="3935760" y="790307"/>
            <a:ext cx="795223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4336CA7-DD68-47ED-833D-9D1086CD5222}"/>
              </a:ext>
            </a:extLst>
          </p:cNvPr>
          <p:cNvSpPr txBox="1"/>
          <p:nvPr/>
        </p:nvSpPr>
        <p:spPr>
          <a:xfrm>
            <a:off x="1164392" y="313361"/>
            <a:ext cx="2185214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개요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278991" y="1007655"/>
            <a:ext cx="5040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6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활용 장비 및 재료 </a:t>
            </a:r>
            <a:r>
              <a:rPr lang="en-US" altLang="ko-KR" sz="16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16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개발 환경</a:t>
            </a:r>
            <a:r>
              <a:rPr lang="en-US" altLang="ko-KR" sz="16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)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6528048" y="1016732"/>
            <a:ext cx="5040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6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프로젝트 구조</a:t>
            </a:r>
            <a:endParaRPr lang="en-US" altLang="ko-KR" sz="16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012445" y="1052736"/>
            <a:ext cx="266546" cy="2665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6276020" y="1048927"/>
            <a:ext cx="266546" cy="2798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3" name="직사각형 22"/>
          <p:cNvSpPr/>
          <p:nvPr/>
        </p:nvSpPr>
        <p:spPr>
          <a:xfrm>
            <a:off x="1416420" y="1268760"/>
            <a:ext cx="5040000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  <a:defRPr/>
            </a:pPr>
            <a:endParaRPr lang="en-US" altLang="ko-KR" sz="13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08E8A2B-AA08-29DA-5921-33FC386A9E91}"/>
              </a:ext>
            </a:extLst>
          </p:cNvPr>
          <p:cNvSpPr/>
          <p:nvPr/>
        </p:nvSpPr>
        <p:spPr>
          <a:xfrm>
            <a:off x="1004918" y="5561464"/>
            <a:ext cx="266546" cy="2798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2ED8F25-550E-A57F-E735-0CC051462A84}"/>
              </a:ext>
            </a:extLst>
          </p:cNvPr>
          <p:cNvSpPr/>
          <p:nvPr/>
        </p:nvSpPr>
        <p:spPr>
          <a:xfrm>
            <a:off x="1285608" y="5517232"/>
            <a:ext cx="5040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6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활용 방안 및 기대 효과</a:t>
            </a:r>
            <a:endParaRPr lang="en-US" altLang="ko-KR" sz="16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0D7EB88-2E75-B835-81B7-5F8E54387DB0}"/>
              </a:ext>
            </a:extLst>
          </p:cNvPr>
          <p:cNvSpPr/>
          <p:nvPr/>
        </p:nvSpPr>
        <p:spPr>
          <a:xfrm>
            <a:off x="1416420" y="5910670"/>
            <a:ext cx="8604676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Tx/>
              <a:buChar char="-"/>
              <a:defRPr/>
            </a:pPr>
            <a:r>
              <a:rPr lang="ko-KR" altLang="ko-KR" sz="1300" dirty="0"/>
              <a:t>공공 도서관, 사내 도서관, 학교 도서관 등 다양한 환경에 적용 가능하며, 자연어 기반 추천으로 도서 탐색 편의성을 높이고 MCP 표준 프로토콜 적용으로 외부 API 확장이 용이</a:t>
            </a:r>
            <a:r>
              <a:rPr lang="ko-KR" altLang="en-US" sz="1300" dirty="0"/>
              <a:t>하다</a:t>
            </a:r>
            <a:r>
              <a:rPr lang="en-US" altLang="ko-KR" sz="1300" dirty="0"/>
              <a:t>.</a:t>
            </a:r>
            <a:r>
              <a:rPr lang="ko-KR" altLang="en-US" sz="1300" dirty="0"/>
              <a:t> </a:t>
            </a:r>
            <a:endParaRPr lang="en-US" altLang="ko-KR" sz="1300" dirty="0"/>
          </a:p>
          <a:p>
            <a:pPr marL="171450" indent="-171450">
              <a:buFontTx/>
              <a:buChar char="-"/>
              <a:defRPr/>
            </a:pPr>
            <a:r>
              <a:rPr lang="ko-KR" altLang="ko-KR" sz="1300" dirty="0" err="1"/>
              <a:t>시맨틱</a:t>
            </a:r>
            <a:r>
              <a:rPr lang="ko-KR" altLang="ko-KR" sz="1300" dirty="0"/>
              <a:t> </a:t>
            </a:r>
            <a:r>
              <a:rPr lang="ko-KR" altLang="ko-KR" sz="1300" dirty="0" err="1"/>
              <a:t>캐싱과</a:t>
            </a:r>
            <a:r>
              <a:rPr lang="ko-KR" altLang="ko-KR" sz="1300" dirty="0"/>
              <a:t> 피드백 기반 개인화를 통해 AI 호출 비용을 절감하면서 추천 품질을 지속적으로 개선할 수 </a:t>
            </a:r>
            <a:r>
              <a:rPr lang="ko-KR" altLang="en-US" sz="1300" dirty="0"/>
              <a:t>있다</a:t>
            </a:r>
            <a:r>
              <a:rPr lang="en-US" altLang="ko-KR" sz="1300" dirty="0"/>
              <a:t>.</a:t>
            </a:r>
            <a:endParaRPr lang="en-US" altLang="ko-KR" sz="13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DC0C692-A3C1-F40B-F280-57B4D678B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640" y="1350952"/>
            <a:ext cx="3477223" cy="399466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48AA661-3F55-8EA6-0625-5C5F71468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849" y="1410169"/>
            <a:ext cx="5214612" cy="3602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260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55958" y="116632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3"/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02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4C78107-0BE1-42E7-9701-50F4E32B0513}"/>
              </a:ext>
            </a:extLst>
          </p:cNvPr>
          <p:cNvCxnSpPr>
            <a:cxnSpLocks/>
          </p:cNvCxnSpPr>
          <p:nvPr/>
        </p:nvCxnSpPr>
        <p:spPr>
          <a:xfrm>
            <a:off x="5375920" y="790307"/>
            <a:ext cx="651207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4336CA7-DD68-47ED-833D-9D1086CD5222}"/>
              </a:ext>
            </a:extLst>
          </p:cNvPr>
          <p:cNvSpPr txBox="1"/>
          <p:nvPr/>
        </p:nvSpPr>
        <p:spPr>
          <a:xfrm>
            <a:off x="1164392" y="313361"/>
            <a:ext cx="387798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팀 구성 및 역할</a:t>
            </a:r>
          </a:p>
        </p:txBody>
      </p:sp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516122"/>
              </p:ext>
            </p:extLst>
          </p:nvPr>
        </p:nvGraphicFramePr>
        <p:xfrm>
          <a:off x="911424" y="1232757"/>
          <a:ext cx="9902041" cy="4678190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1587796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2106996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6207249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</a:tblGrid>
              <a:tr h="4678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훈련생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F4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역할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F4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담당 업무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1052586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8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조창희</a:t>
                      </a:r>
                      <a:endParaRPr lang="ko-KR" altLang="en-US" sz="1800" b="0" i="1" u="none" dirty="0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60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MCP</a:t>
                      </a:r>
                      <a:r>
                        <a:rPr kumimoji="0" lang="ko-KR" altLang="en-US" sz="160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60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Server</a:t>
                      </a:r>
                      <a:endParaRPr kumimoji="0" lang="ko-KR" altLang="en-US" sz="1600" i="1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MCP </a:t>
                      </a:r>
                      <a:r>
                        <a:rPr kumimoji="0" lang="ko-KR" altLang="en-US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서버구현</a:t>
                      </a:r>
                      <a:r>
                        <a:rPr kumimoji="0" lang="en-US" altLang="ko-KR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, </a:t>
                      </a:r>
                      <a:r>
                        <a:rPr kumimoji="0" lang="en-US" altLang="ko-KR" sz="160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ChatBot</a:t>
                      </a:r>
                      <a:r>
                        <a:rPr kumimoji="0" lang="en-US" altLang="ko-KR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kumimoji="0" lang="ko-KR" altLang="en-US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기능 구현</a:t>
                      </a:r>
                      <a:endParaRPr kumimoji="0" lang="en-US" altLang="ko-KR" sz="16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60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MCP </a:t>
                      </a:r>
                      <a:r>
                        <a:rPr kumimoji="0" lang="ko-KR" altLang="en-US" sz="160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서버에서 호출되는 </a:t>
                      </a:r>
                      <a:r>
                        <a:rPr kumimoji="0" lang="en-US" altLang="ko-KR" sz="160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Tool</a:t>
                      </a:r>
                      <a:r>
                        <a:rPr kumimoji="0" lang="ko-KR" altLang="en-US" sz="160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의 </a:t>
                      </a:r>
                      <a:r>
                        <a:rPr kumimoji="0" lang="en-US" altLang="ko-KR" sz="160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r>
                        <a:rPr kumimoji="0" lang="ko-KR" altLang="en-US" sz="1600" i="1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검토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1052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i="1" u="none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김동건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RabbitMQ-embedding Server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RabbitMQ</a:t>
                      </a:r>
                      <a:r>
                        <a:rPr kumimoji="0" lang="ko-KR" altLang="en-US" sz="160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를</a:t>
                      </a:r>
                      <a:r>
                        <a:rPr kumimoji="0" lang="ko-KR" altLang="en-US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 사용한 </a:t>
                      </a:r>
                      <a:r>
                        <a:rPr kumimoji="0" lang="en-US" altLang="ko-KR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Review AI Summary </a:t>
                      </a:r>
                      <a:r>
                        <a:rPr kumimoji="0" lang="ko-KR" altLang="en-US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최적화</a:t>
                      </a:r>
                      <a:endParaRPr kumimoji="0" lang="en-US" altLang="ko-KR" sz="16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Embedding Server </a:t>
                      </a:r>
                      <a:r>
                        <a:rPr kumimoji="0" lang="ko-KR" altLang="en-US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구현</a:t>
                      </a:r>
                      <a:endParaRPr kumimoji="0" lang="en-US" altLang="ko-KR" sz="16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1052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80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손재민</a:t>
                      </a:r>
                      <a:endParaRPr kumimoji="0" lang="ko-KR" altLang="en-US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Book &amp; Library Search</a:t>
                      </a:r>
                      <a:endParaRPr kumimoji="0" lang="ko-KR" altLang="en-US" sz="1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Keyword, Vector, Hybrid, RAG </a:t>
                      </a:r>
                      <a:r>
                        <a:rPr kumimoji="0" lang="ko-KR" altLang="en-US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검색 구현</a:t>
                      </a:r>
                      <a:endParaRPr kumimoji="0" lang="en-US" altLang="ko-KR" sz="16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초기 데이터 </a:t>
                      </a:r>
                      <a:r>
                        <a:rPr kumimoji="0" lang="en-US" altLang="ko-KR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Batch</a:t>
                      </a:r>
                      <a:r>
                        <a:rPr kumimoji="0" lang="ko-KR" altLang="en-US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Server </a:t>
                      </a:r>
                      <a:r>
                        <a:rPr kumimoji="0" lang="ko-KR" altLang="en-US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구현</a:t>
                      </a:r>
                      <a:r>
                        <a:rPr kumimoji="0" lang="en-US" altLang="ko-KR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검색에 대한 </a:t>
                      </a:r>
                      <a:r>
                        <a:rPr kumimoji="0" lang="en-US" altLang="ko-KR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Cache</a:t>
                      </a:r>
                      <a:r>
                        <a:rPr kumimoji="0" lang="ko-KR" altLang="en-US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구현</a:t>
                      </a:r>
                      <a:endParaRPr kumimoji="0" lang="ko-KR" altLang="en-US" sz="1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10525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8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강병호</a:t>
                      </a:r>
                      <a:endParaRPr kumimoji="0" lang="ko-KR" altLang="en-US" sz="20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6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Review, Feedback, Telegram service</a:t>
                      </a:r>
                      <a:endParaRPr kumimoji="0" lang="ko-KR" altLang="en-US" sz="1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Review</a:t>
                      </a:r>
                      <a:r>
                        <a:rPr kumimoji="0" lang="ko-KR" altLang="en-US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kumimoji="0" lang="en-US" altLang="ko-KR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AI</a:t>
                      </a:r>
                      <a:r>
                        <a:rPr kumimoji="0" lang="ko-KR" altLang="en-US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 </a:t>
                      </a:r>
                      <a:r>
                        <a:rPr kumimoji="0" lang="en-US" altLang="ko-KR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Summary </a:t>
                      </a:r>
                      <a:r>
                        <a:rPr kumimoji="0" lang="ko-KR" altLang="en-US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구현 </a:t>
                      </a:r>
                      <a:endParaRPr kumimoji="0" lang="en-US" altLang="ko-KR" sz="16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Telegram</a:t>
                      </a:r>
                      <a:r>
                        <a:rPr kumimoji="0" lang="ko-KR" altLang="en-US" sz="16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 연동 서비스 및 개인화 구현</a:t>
                      </a:r>
                      <a:endParaRPr kumimoji="0" lang="en-US" altLang="ko-KR" sz="16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6423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19014" y="200058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019766"/>
              </p:ext>
            </p:extLst>
          </p:nvPr>
        </p:nvGraphicFramePr>
        <p:xfrm>
          <a:off x="813080" y="1019063"/>
          <a:ext cx="10549172" cy="5182239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848770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1885978">
                  <a:extLst>
                    <a:ext uri="{9D8B030D-6E8A-4147-A177-3AD203B41FA5}">
                      <a16:colId xmlns:a16="http://schemas.microsoft.com/office/drawing/2014/main" val="2457702995"/>
                    </a:ext>
                  </a:extLst>
                </a:gridCol>
                <a:gridCol w="4543636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2270788">
                  <a:extLst>
                    <a:ext uri="{9D8B030D-6E8A-4147-A177-3AD203B41FA5}">
                      <a16:colId xmlns:a16="http://schemas.microsoft.com/office/drawing/2014/main" val="1146148137"/>
                    </a:ext>
                  </a:extLst>
                </a:gridCol>
              </a:tblGrid>
              <a:tr h="72887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500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구분</a:t>
                      </a:r>
                      <a:endParaRPr lang="ko-KR" altLang="en-US" sz="1500" b="1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F4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500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기간</a:t>
                      </a:r>
                      <a:endParaRPr lang="ko-KR" altLang="en-US" sz="1500" b="1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F4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500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활동</a:t>
                      </a:r>
                      <a:endParaRPr lang="ko-KR" altLang="en-US" sz="1500" b="1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F4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1500" b="1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4301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ko-KR" altLang="en-US" sz="1500" i="1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데이터 구축</a:t>
                      </a:r>
                      <a:endParaRPr lang="ko-KR" altLang="en-US" sz="1500" b="1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06/17(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수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 ~ 06/18(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목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</a:t>
                      </a:r>
                      <a:endParaRPr lang="en-US" altLang="ko-KR" sz="1500" b="0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CSV Batch 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데이터 적재 </a:t>
                      </a:r>
                      <a:r>
                        <a:rPr lang="en-US" altLang="ko-KR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LIKE 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기반 검색 구현 </a:t>
                      </a:r>
                      <a:r>
                        <a:rPr lang="en-US" altLang="ko-KR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 검색 </a:t>
                      </a:r>
                      <a:r>
                        <a:rPr lang="en-US" altLang="ko-KR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API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 개발</a:t>
                      </a:r>
                      <a:r>
                        <a:rPr lang="en-US" altLang="ko-KR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 인덱싱</a:t>
                      </a:r>
                      <a:r>
                        <a:rPr lang="en-US" altLang="ko-KR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전문검색 최적화</a:t>
                      </a:r>
                      <a:endParaRPr lang="en-US" altLang="ko-KR" sz="1500" b="0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500" b="0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430191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ko-KR" altLang="en-US" sz="1500" i="1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벡터 검색 도입</a:t>
                      </a:r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06/22(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월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 ~ 06/25(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목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</a:t>
                      </a:r>
                      <a:endParaRPr lang="en-US" altLang="ko-KR" sz="1500" b="0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500" b="0" i="1" u="none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pgvector</a:t>
                      </a:r>
                      <a:r>
                        <a:rPr lang="en-US" altLang="ko-KR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환경 구축</a:t>
                      </a:r>
                      <a:r>
                        <a:rPr lang="en-US" altLang="ko-KR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500" b="0" i="1" u="none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임베딩생성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Batch, 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자연어 검색</a:t>
                      </a:r>
                      <a:r>
                        <a:rPr lang="en-US" altLang="ko-KR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 하이브리드 검색</a:t>
                      </a:r>
                      <a:endParaRPr lang="en-US" altLang="ko-KR" sz="1500" b="0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500" b="0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3585898"/>
                  </a:ext>
                </a:extLst>
              </a:tr>
              <a:tr h="55415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en-US" altLang="ko-KR" sz="1500" i="1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RAG</a:t>
                      </a:r>
                      <a:r>
                        <a:rPr kumimoji="0" lang="ko-KR" altLang="en-US" sz="1500" i="1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기반 </a:t>
                      </a:r>
                      <a:r>
                        <a:rPr kumimoji="0" lang="en-US" altLang="ko-KR" sz="1500" i="1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AI</a:t>
                      </a:r>
                      <a:r>
                        <a:rPr kumimoji="0" lang="ko-KR" altLang="en-US" sz="1500" i="1" u="none" strike="noStrike" kern="1200" cap="none" spc="-100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응답 생성</a:t>
                      </a:r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06/25(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목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 ~ 06/28(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일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</a:t>
                      </a:r>
                      <a:endParaRPr lang="en-US" altLang="ko-KR" sz="1500" b="0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RAG 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개념 적용</a:t>
                      </a:r>
                      <a:r>
                        <a:rPr lang="en-US" altLang="ko-KR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Context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 구성</a:t>
                      </a:r>
                      <a:r>
                        <a:rPr lang="en-US" altLang="ko-KR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LLM </a:t>
                      </a:r>
                      <a:r>
                        <a:rPr lang="ko-KR" altLang="en-US" sz="1500" b="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+mn-ea"/>
                          <a:ea typeface="+mn-ea"/>
                        </a:rPr>
                        <a:t>연동</a:t>
                      </a:r>
                      <a:endParaRPr lang="en-US" altLang="ko-KR" sz="1500" b="0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500" b="0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87332"/>
                  </a:ext>
                </a:extLst>
              </a:tr>
              <a:tr h="5689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500" b="0" i="1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AI </a:t>
                      </a:r>
                      <a:r>
                        <a:rPr kumimoji="0" lang="ko-KR" altLang="en-US" sz="1500" b="0" i="1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</a:rPr>
                        <a:t>성능 비용 튜닝</a:t>
                      </a:r>
                      <a:endParaRPr lang="ko-KR" altLang="en-US" sz="1500" b="1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06/24(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수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 ~ 06/29(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금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</a:t>
                      </a:r>
                      <a:endParaRPr lang="en-US" altLang="ko-KR" sz="1500" b="0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성능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비용 문제 인식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Top-K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최적화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500" b="0" i="1" u="none" strike="noStrike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시멘틱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500" b="0" i="1" u="none" strike="noStrike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캐싱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리뷰 요약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리뷰 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RAG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연동</a:t>
                      </a: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endParaRPr lang="ko-KR" altLang="en-US" sz="1500" b="0" i="1" u="none" strike="noStrike" spc="-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716193"/>
                  </a:ext>
                </a:extLst>
              </a:tr>
              <a:tr h="48719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500" b="0" i="1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Telegram Bot UI </a:t>
                      </a:r>
                      <a:r>
                        <a:rPr kumimoji="0" lang="ko-KR" altLang="en-US" sz="1500" b="0" i="1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구축</a:t>
                      </a:r>
                      <a:endParaRPr kumimoji="0" lang="ko-KR" altLang="en-US" sz="1500" b="1" i="1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06/24(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수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 ~ 06/27(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토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</a:t>
                      </a:r>
                      <a:endParaRPr lang="en-US" altLang="ko-KR" sz="1500" b="0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봇 설정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,RAG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검색 연동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대화 관리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피드백 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UI, 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피드백 검색 통합</a:t>
                      </a: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endParaRPr lang="ko-KR" altLang="en-US" sz="1500" b="0" i="1" u="none" strike="noStrike" spc="-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5509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500" i="1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개인화 추천 시스템</a:t>
                      </a:r>
                      <a:endParaRPr kumimoji="0" lang="ko-KR" altLang="en-US" sz="1500" b="1" i="1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06/26(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금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 ~ 06/29(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월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</a:t>
                      </a:r>
                      <a:endParaRPr lang="en-US" altLang="ko-KR" sz="1500" b="0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벡터 </a:t>
                      </a:r>
                      <a:r>
                        <a:rPr lang="ko-KR" altLang="en-US" sz="1500" b="0" i="1" u="none" strike="noStrike" spc="-1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임베딩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기초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사용자 선호 벡터 학습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개인화 랭킹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콜드 스타트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통합가이드</a:t>
                      </a: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947352"/>
                  </a:ext>
                </a:extLst>
              </a:tr>
              <a:tr h="4772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500" i="1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LLM </a:t>
                      </a:r>
                      <a:r>
                        <a:rPr kumimoji="0" lang="ko-KR" altLang="en-US" sz="1500" i="1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오케스트레이션</a:t>
                      </a:r>
                      <a:endParaRPr kumimoji="0" lang="ko-KR" altLang="en-US" sz="1500" b="1" i="1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06/26(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금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 ~ 06/27(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월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</a:t>
                      </a:r>
                      <a:endParaRPr lang="en-US" altLang="ko-KR" sz="1500" b="0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개요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시나리오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단일 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Function, 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복수 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Function 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조합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외부 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API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연동</a:t>
                      </a: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3437" marR="3915" marT="3915" marB="0" anchor="ctr"/>
                </a:tc>
                <a:extLst>
                  <a:ext uri="{0D108BD9-81ED-4DB2-BD59-A6C34878D82A}">
                    <a16:rowId xmlns:a16="http://schemas.microsoft.com/office/drawing/2014/main" val="1771615870"/>
                  </a:ext>
                </a:extLst>
              </a:tr>
              <a:tr h="4772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500" i="1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최종 통합 발표 준비</a:t>
                      </a:r>
                      <a:endParaRPr kumimoji="0" lang="ko-KR" altLang="en-US" sz="1500" b="1" i="1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06/26(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금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 ~ 06/27(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월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</a:t>
                      </a:r>
                      <a:endParaRPr lang="en-US" altLang="ko-KR" sz="1500" b="0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전체 가능 통합 테스트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시연 시나리오 구성</a:t>
                      </a: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최종 보고서 작성</a:t>
                      </a: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3437" marR="3915" marT="3915" marB="0" anchor="ctr"/>
                </a:tc>
                <a:extLst>
                  <a:ext uri="{0D108BD9-81ED-4DB2-BD59-A6C34878D82A}">
                    <a16:rowId xmlns:a16="http://schemas.microsoft.com/office/drawing/2014/main" val="2030244459"/>
                  </a:ext>
                </a:extLst>
              </a:tr>
              <a:tr h="4772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500" i="1" u="none" strike="noStrike" kern="1200" cap="none" spc="-10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</a:rPr>
                        <a:t>총 개발 기간</a:t>
                      </a:r>
                      <a:endParaRPr kumimoji="0" lang="ko-KR" altLang="en-US" sz="1500" b="1" i="1" u="none" strike="noStrike" kern="1200" cap="none" spc="-100" normalizeH="0" baseline="0" noProof="0" dirty="0">
                        <a:ln>
                          <a:noFill/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4930" marR="84930" marT="42485" marB="42485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06/17(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수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 ~ 06/29(</a:t>
                      </a:r>
                      <a:r>
                        <a:rPr lang="ko-KR" altLang="en-US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월</a:t>
                      </a:r>
                      <a:r>
                        <a:rPr lang="en-US" altLang="ko-KR" sz="1500" i="1" u="none" spc="-100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)</a:t>
                      </a:r>
                      <a:endParaRPr lang="en-US" altLang="ko-KR" sz="1500" b="0" i="1" u="none" spc="-100" dirty="0">
                        <a:solidFill>
                          <a:schemeClr val="bg2">
                            <a:lumMod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en-US" altLang="ko-KR" sz="1500" b="0" i="1" u="none" strike="noStrike" spc="-100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altLang="en-US" sz="1500" b="0" i="1" u="none" strike="noStrike" spc="-100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3437" marR="3915" marT="391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3437" marR="3915" marT="3915" marB="0" anchor="ctr"/>
                </a:tc>
                <a:extLst>
                  <a:ext uri="{0D108BD9-81ED-4DB2-BD59-A6C34878D82A}">
                    <a16:rowId xmlns:a16="http://schemas.microsoft.com/office/drawing/2014/main" val="3415157318"/>
                  </a:ext>
                </a:extLst>
              </a:tr>
            </a:tbl>
          </a:graphicData>
        </a:graphic>
      </p:graphicFrame>
      <p:sp>
        <p:nvSpPr>
          <p:cNvPr id="35" name="TextBox 3"/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03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336CA7-DD68-47ED-833D-9D1086CD5222}"/>
              </a:ext>
            </a:extLst>
          </p:cNvPr>
          <p:cNvSpPr txBox="1"/>
          <p:nvPr/>
        </p:nvSpPr>
        <p:spPr>
          <a:xfrm>
            <a:off x="1164392" y="313361"/>
            <a:ext cx="4185761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절차 및 방법</a:t>
            </a: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A4C78107-0BE1-42E7-9701-50F4E32B0513}"/>
              </a:ext>
            </a:extLst>
          </p:cNvPr>
          <p:cNvCxnSpPr>
            <a:cxnSpLocks/>
          </p:cNvCxnSpPr>
          <p:nvPr/>
        </p:nvCxnSpPr>
        <p:spPr>
          <a:xfrm>
            <a:off x="5642243" y="790307"/>
            <a:ext cx="6008016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4507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3"/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336CA7-DD68-47ED-833D-9D1086CD5222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DB9A24-7F99-18FD-9E74-BA71A3D289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08" y="829171"/>
            <a:ext cx="10503653" cy="57113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3"/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336CA7-DD68-47ED-833D-9D1086CD5222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BF315F5-70EA-B063-4E7A-53ECF19DD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06" y="828697"/>
            <a:ext cx="10693188" cy="59651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7DC44-A369-EE6C-3DC6-8243FCEB7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AD3A58EE-95C5-8865-7796-401746EEFC8E}"/>
              </a:ext>
            </a:extLst>
          </p:cNvPr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A56AC9F2-76A6-A1CB-A7D0-A8A7E16F4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9EA92B-21C3-901A-C1C3-0CD3558C468A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6C9AC03-BA55-F46A-2AFB-E2296EDFF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625" y="775026"/>
            <a:ext cx="8572750" cy="608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144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BD4C3-B644-85D9-EB65-AAB54637F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F0AA44D6-B0AC-620F-243B-B37BCACB5A9F}"/>
              </a:ext>
            </a:extLst>
          </p:cNvPr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4D3631F9-BA10-BBAD-B2EB-9928D5AA7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5FF549-4BF9-257E-C900-766149415639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2632A41-B912-3C79-A102-AADAA36829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607" y="776002"/>
            <a:ext cx="8232785" cy="608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497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A96B3-3F5B-E716-04E1-5A54E819F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FDCA3512-5924-DFF3-1041-2F16EE256328}"/>
              </a:ext>
            </a:extLst>
          </p:cNvPr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C0902273-D5BD-321C-95F7-85CA92AE8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A312AB-4C6C-37A5-334E-37A4CE4C1D9F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300DDD4-B8D6-1389-D973-7ED7C3FE5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5" y="1520788"/>
            <a:ext cx="12135190" cy="399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627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D1B57-5F51-B6AF-E001-A2CE31118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E5764073-B6A9-FE42-7176-380BA312FF08}"/>
              </a:ext>
            </a:extLst>
          </p:cNvPr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219FBEE9-113E-2AB9-E5DA-668F7C809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F57FB1-DC34-0DC6-9937-F3913FA0F2AB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95F6DF6-750E-0BD1-9636-D4E4ACB2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94" y="831277"/>
            <a:ext cx="11604612" cy="5974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074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03FB7-EDF9-34FE-4466-21B371FA0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1051AEA5-0550-BFA5-4D8A-8AA745786360}"/>
              </a:ext>
            </a:extLst>
          </p:cNvPr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A1E9576F-995E-0E76-044C-9380E2631D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E955A3-F5BC-94CC-D545-F23187977FD5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5937E8E-EDC2-9A2A-19B3-3833E69C6A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750" y="840159"/>
            <a:ext cx="10596500" cy="5956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533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58D8E-AA6D-9EFE-C0A3-EF38867C9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50AE9665-0A0B-998F-C1E4-0FEB5DEEAC73}"/>
              </a:ext>
            </a:extLst>
          </p:cNvPr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032B165C-6C09-1DBB-F93A-0322C32572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1A6592-4F6C-0B61-2D11-815B22405CC2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F79794C-4E29-12C8-75C6-C80734FC72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1" y="1232756"/>
            <a:ext cx="12164257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846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40DF4-4944-42E0-072F-876A470C1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C1041C34-7B4A-B526-56EC-C42FD02A62F6}"/>
              </a:ext>
            </a:extLst>
          </p:cNvPr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0C7021B1-0614-D151-A1B8-F8C0B51C8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555F47-7DA2-836F-C043-37F43C64BD92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2B2BF59-D38F-8268-CE19-F2C62E4B8B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58" y="917750"/>
            <a:ext cx="12141483" cy="526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977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C0287-822E-70EB-8B82-52A887945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A28A13AA-57EC-1FD6-BA55-2C9ACF347348}"/>
              </a:ext>
            </a:extLst>
          </p:cNvPr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7D7B4D0F-103D-8BAF-ECFB-62CBE2D07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AB636A-BE39-F5E0-A3D0-E723AA37D483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1987FF61-1453-5B3E-EE9D-AF22D4EAEA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836" y="886835"/>
            <a:ext cx="9048328" cy="597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9642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09FC8-530C-FA3B-E829-A738CF11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D3AE380B-81CB-EE4F-EDD0-573BFDC5EABF}"/>
              </a:ext>
            </a:extLst>
          </p:cNvPr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862838BE-5A68-5273-1EC8-01D87A547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815A11-3CD6-8037-47A5-AE5FDB6FACB0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768DFC1C-707E-EFA6-9BFE-235FD64C4F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279" y="730863"/>
            <a:ext cx="9421441" cy="6054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134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3DE6D-6844-63F2-7C0A-29C9134D7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4902D50B-7CD9-C1E3-5E65-D441F47B3549}"/>
              </a:ext>
            </a:extLst>
          </p:cNvPr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066D69CD-09DA-71CF-6E4C-394009FC4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155215-5E9D-06EF-10C2-67336B7810DD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AF59B8-BAD2-27B4-0EBF-3CE8B2417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190" y="775025"/>
            <a:ext cx="8861619" cy="608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3832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C77DF-C2C4-0B8D-8322-0EFF64D37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B7C22E81-60E6-60C9-3BC5-5CB3115ADEB3}"/>
              </a:ext>
            </a:extLst>
          </p:cNvPr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BAC7F4A0-8BB7-AB00-80CC-2919919FB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3A04FA-FEB4-2D2A-858E-954C5D8730A9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B0065A1-E492-4C7D-6FFE-080430296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22" y="1844824"/>
            <a:ext cx="12161355" cy="346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0358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AA136-EAED-4278-1265-1F4298477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7195C519-DE03-2B60-9451-0C99789C755B}"/>
              </a:ext>
            </a:extLst>
          </p:cNvPr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F82E0542-13E1-D8F1-6540-61C17C166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049F53-354D-4C01-6F38-D180DC61E984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9445FEE-24C3-DE0D-95DF-C00BFB377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1" y="890511"/>
            <a:ext cx="12154337" cy="532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9625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6B6A2-6B7A-963F-905B-DA2BFEAD0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471A9D88-81A1-E433-C2D8-9E7C63EF1483}"/>
              </a:ext>
            </a:extLst>
          </p:cNvPr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5B5C6BF6-BCF9-A6AC-11B1-C89CD6356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4EB73F-4A7E-4501-1273-E960388983D9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2E178FC-EB88-5DCE-A1D9-7FD31F1AF2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5" y="880314"/>
            <a:ext cx="8964595" cy="5966534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3A848B48-0C58-E4DE-9683-9587D295F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4122" y="2387"/>
            <a:ext cx="3609020" cy="589780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11891E5-100F-DCAD-AB78-84BEBF5BB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4131" y="5903800"/>
            <a:ext cx="4896143" cy="95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3857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4DA4D-CC40-9CCB-12A8-4A95E70E3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D840E5A0-5D7B-FF4E-E4DC-F5D95FFA61B5}"/>
              </a:ext>
            </a:extLst>
          </p:cNvPr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4BB90E07-79C6-9891-07C4-8D2E0AA65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6EDA0E-8CAA-34B3-570D-14E656A93DA4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EFD8036-81FB-7883-8B0F-BFF534852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6" y="977770"/>
            <a:ext cx="12176832" cy="533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4685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F8800-CCE6-BF25-ADF6-FE49E41E8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B3C66638-028E-8A06-0F8E-E87AB4D8D8B4}"/>
              </a:ext>
            </a:extLst>
          </p:cNvPr>
          <p:cNvSpPr/>
          <p:nvPr/>
        </p:nvSpPr>
        <p:spPr>
          <a:xfrm>
            <a:off x="227348" y="19199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4B24EDC6-8644-4BAF-BCC9-23F60D3C7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04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94F963-6511-6594-2359-47517F27CCDA}"/>
              </a:ext>
            </a:extLst>
          </p:cNvPr>
          <p:cNvSpPr txBox="1"/>
          <p:nvPr/>
        </p:nvSpPr>
        <p:spPr>
          <a:xfrm>
            <a:off x="1164392" y="313361"/>
            <a:ext cx="2954655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 수행 경과</a:t>
            </a:r>
          </a:p>
        </p:txBody>
      </p:sp>
      <p:pic>
        <p:nvPicPr>
          <p:cNvPr id="2" name="Picture 5">
            <a:extLst>
              <a:ext uri="{FF2B5EF4-FFF2-40B4-BE49-F238E27FC236}">
                <a16:creationId xmlns:a16="http://schemas.microsoft.com/office/drawing/2014/main" id="{891868B4-2A5E-9092-E83A-72E7E7B8D8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" y="1338586"/>
            <a:ext cx="12203814" cy="418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730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5DF4D"/>
            </a:gs>
            <a:gs pos="44000">
              <a:srgbClr val="F5DF4D">
                <a:alpha val="70000"/>
                <a:lumMod val="90000"/>
                <a:lumOff val="10000"/>
              </a:srgbClr>
            </a:gs>
            <a:gs pos="71000">
              <a:srgbClr val="939597">
                <a:alpha val="70000"/>
                <a:lumMod val="99000"/>
                <a:lumOff val="1000"/>
              </a:srgbClr>
            </a:gs>
            <a:gs pos="100000">
              <a:srgbClr val="939597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238627" y="283065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4C78107-0BE1-42E7-9701-50F4E32B0513}"/>
              </a:ext>
            </a:extLst>
          </p:cNvPr>
          <p:cNvCxnSpPr>
            <a:cxnSpLocks/>
          </p:cNvCxnSpPr>
          <p:nvPr/>
        </p:nvCxnSpPr>
        <p:spPr>
          <a:xfrm>
            <a:off x="3683732" y="790307"/>
            <a:ext cx="820426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3"/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05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336CA7-DD68-47ED-833D-9D1086CD5222}"/>
              </a:ext>
            </a:extLst>
          </p:cNvPr>
          <p:cNvSpPr txBox="1"/>
          <p:nvPr/>
        </p:nvSpPr>
        <p:spPr>
          <a:xfrm>
            <a:off x="1164392" y="313361"/>
            <a:ext cx="2339102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자체 평가 의견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F10731-3129-61CB-E2AF-6670A21CE682}"/>
              </a:ext>
            </a:extLst>
          </p:cNvPr>
          <p:cNvSpPr txBox="1"/>
          <p:nvPr/>
        </p:nvSpPr>
        <p:spPr>
          <a:xfrm>
            <a:off x="1055440" y="990951"/>
            <a:ext cx="9397044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i="1" dirty="0"/>
              <a:t>기획 의도와의 부합 정도 및 달성도</a:t>
            </a:r>
            <a:r>
              <a:rPr kumimoji="1" lang="en-US" altLang="ko-KR" sz="2000" b="1" i="1" dirty="0"/>
              <a:t>:</a:t>
            </a:r>
          </a:p>
          <a:p>
            <a:endParaRPr kumimoji="1" lang="en-US" altLang="ko-KR" sz="2000" b="1" i="1" dirty="0"/>
          </a:p>
          <a:p>
            <a:r>
              <a:rPr kumimoji="1" lang="ko-KR" altLang="en-US" dirty="0"/>
              <a:t>자연어 기반 도서 추천</a:t>
            </a:r>
            <a:r>
              <a:rPr kumimoji="1" lang="en-US" altLang="ko-KR" dirty="0"/>
              <a:t>(RAG), MCP Server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통한 도서관 실시간 정보 조회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텔레그램</a:t>
            </a:r>
            <a:r>
              <a:rPr kumimoji="1" lang="ko-KR" altLang="en-US" dirty="0"/>
              <a:t> 봇</a:t>
            </a:r>
            <a:r>
              <a:rPr kumimoji="1" lang="en-US" altLang="ko-KR" dirty="0"/>
              <a:t>,</a:t>
            </a:r>
            <a:r>
              <a:rPr kumimoji="1" lang="ko-KR" altLang="en-US" dirty="0"/>
              <a:t> 피드백 개인화</a:t>
            </a:r>
            <a:r>
              <a:rPr kumimoji="1" lang="en-US" altLang="ko-KR" dirty="0"/>
              <a:t>,</a:t>
            </a:r>
            <a:r>
              <a:rPr kumimoji="1" lang="ko-KR" altLang="en-US" dirty="0"/>
              <a:t> 리뷰 </a:t>
            </a:r>
            <a:r>
              <a:rPr kumimoji="1" lang="en-US" altLang="ko-KR" dirty="0"/>
              <a:t>AI </a:t>
            </a:r>
            <a:r>
              <a:rPr kumimoji="1" lang="ko-KR" altLang="en-US" dirty="0"/>
              <a:t>요약 등 기획한 핵심 기능을 대부분 구현하였다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다만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Ollama</a:t>
            </a:r>
            <a:r>
              <a:rPr kumimoji="1" lang="ko-KR" altLang="en-US" dirty="0"/>
              <a:t> 모델의 </a:t>
            </a:r>
            <a:r>
              <a:rPr kumimoji="1" lang="en-US" altLang="ko-KR" dirty="0"/>
              <a:t>Tool Calling</a:t>
            </a:r>
            <a:r>
              <a:rPr kumimoji="1" lang="ko-KR" altLang="en-US" dirty="0"/>
              <a:t> 안정성 문제로 </a:t>
            </a:r>
            <a:r>
              <a:rPr kumimoji="1" lang="ko-KR" altLang="en-US" dirty="0" err="1"/>
              <a:t>챗봇</a:t>
            </a:r>
            <a:r>
              <a:rPr kumimoji="1" lang="ko-KR" altLang="en-US" dirty="0"/>
              <a:t> 응답 품질이 기대에 미치지 못한 부분이 있었으며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시맨틱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캐싱이</a:t>
            </a:r>
            <a:r>
              <a:rPr kumimoji="1" lang="ko-KR" altLang="en-US" dirty="0"/>
              <a:t> 인메모리 방식으로 구현되어 서버 재시작 시 초기화되는 한계가 있었다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ko-KR" altLang="en-US" sz="2000" b="1" i="1" dirty="0"/>
              <a:t>완성도 평가 </a:t>
            </a:r>
            <a:r>
              <a:rPr kumimoji="1" lang="en-US" altLang="ko-KR" sz="2000" b="1" i="1" dirty="0"/>
              <a:t>(10</a:t>
            </a:r>
            <a:r>
              <a:rPr kumimoji="1" lang="ko-KR" altLang="en-US" sz="2000" b="1" i="1" dirty="0"/>
              <a:t>점 만점</a:t>
            </a:r>
            <a:r>
              <a:rPr kumimoji="1" lang="en-US" altLang="ko-KR" sz="2000" b="1" i="1" dirty="0"/>
              <a:t>):</a:t>
            </a:r>
          </a:p>
          <a:p>
            <a:endParaRPr kumimoji="1" lang="en-US" altLang="ko-KR" sz="2000" b="1" i="1" dirty="0"/>
          </a:p>
          <a:p>
            <a:r>
              <a:rPr kumimoji="1" lang="en-US" altLang="ko-KR" sz="2000" dirty="0"/>
              <a:t>7.5 / 10</a:t>
            </a:r>
          </a:p>
          <a:p>
            <a:r>
              <a:rPr kumimoji="1" lang="ko-KR" altLang="en-US" dirty="0"/>
              <a:t>기능 구현 완성도는 높으나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Ollama</a:t>
            </a:r>
            <a:r>
              <a:rPr kumimoji="1" lang="en-US" altLang="ko-KR" dirty="0"/>
              <a:t> Tool Calling </a:t>
            </a:r>
            <a:r>
              <a:rPr kumimoji="1" lang="ko-KR" altLang="en-US" dirty="0"/>
              <a:t>안정성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시맨틱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캐싱</a:t>
            </a:r>
            <a:r>
              <a:rPr kumimoji="1" lang="ko-KR" altLang="en-US" dirty="0"/>
              <a:t> 영속성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일부 </a:t>
            </a:r>
            <a:r>
              <a:rPr kumimoji="1" lang="en-US" altLang="ko-KR" dirty="0"/>
              <a:t>UI </a:t>
            </a:r>
            <a:r>
              <a:rPr kumimoji="1" lang="ko-KR" altLang="en-US" dirty="0"/>
              <a:t>이슈 등 개선 여지가 남아있어 </a:t>
            </a:r>
            <a:r>
              <a:rPr kumimoji="1" lang="en-US" altLang="ko-KR" dirty="0"/>
              <a:t>7.5</a:t>
            </a:r>
            <a:r>
              <a:rPr kumimoji="1" lang="ko-KR" altLang="en-US" dirty="0"/>
              <a:t>점으로 평가한다</a:t>
            </a:r>
            <a:r>
              <a:rPr kumimoji="1" lang="en-US" altLang="ko-KR" dirty="0"/>
              <a:t>.</a:t>
            </a:r>
          </a:p>
        </p:txBody>
      </p:sp>
      <p:cxnSp>
        <p:nvCxnSpPr>
          <p:cNvPr id="4" name="직선 연결선[R] 3">
            <a:extLst>
              <a:ext uri="{FF2B5EF4-FFF2-40B4-BE49-F238E27FC236}">
                <a16:creationId xmlns:a16="http://schemas.microsoft.com/office/drawing/2014/main" id="{F2194DAF-D7A2-B5D7-472C-895A13A91363}"/>
              </a:ext>
            </a:extLst>
          </p:cNvPr>
          <p:cNvCxnSpPr>
            <a:stCxn id="2" idx="1"/>
            <a:endCxn id="2" idx="3"/>
          </p:cNvCxnSpPr>
          <p:nvPr/>
        </p:nvCxnSpPr>
        <p:spPr>
          <a:xfrm>
            <a:off x="1055440" y="2914555"/>
            <a:ext cx="93970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5DF4D"/>
            </a:gs>
            <a:gs pos="44000">
              <a:srgbClr val="F5DF4D">
                <a:alpha val="70000"/>
                <a:lumMod val="90000"/>
                <a:lumOff val="10000"/>
              </a:srgbClr>
            </a:gs>
            <a:gs pos="71000">
              <a:srgbClr val="939597">
                <a:alpha val="70000"/>
                <a:lumMod val="99000"/>
                <a:lumOff val="1000"/>
              </a:srgbClr>
            </a:gs>
            <a:gs pos="100000">
              <a:srgbClr val="939597"/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30E2BC-9720-0303-797D-C4984E3EB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54FACBC4-F96E-5569-1125-EADC6795B5C6}"/>
              </a:ext>
            </a:extLst>
          </p:cNvPr>
          <p:cNvSpPr/>
          <p:nvPr/>
        </p:nvSpPr>
        <p:spPr>
          <a:xfrm>
            <a:off x="227348" y="224644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4B77FF1-09CC-58EA-8F6E-43F0839F7FC9}"/>
              </a:ext>
            </a:extLst>
          </p:cNvPr>
          <p:cNvCxnSpPr>
            <a:cxnSpLocks/>
          </p:cNvCxnSpPr>
          <p:nvPr/>
        </p:nvCxnSpPr>
        <p:spPr>
          <a:xfrm>
            <a:off x="3683732" y="790307"/>
            <a:ext cx="820426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3">
            <a:extLst>
              <a:ext uri="{FF2B5EF4-FFF2-40B4-BE49-F238E27FC236}">
                <a16:creationId xmlns:a16="http://schemas.microsoft.com/office/drawing/2014/main" id="{C04824D1-E38B-E328-5D75-6EDABE54F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05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40C9EC-0160-82FE-5994-E39C8FD96958}"/>
              </a:ext>
            </a:extLst>
          </p:cNvPr>
          <p:cNvSpPr txBox="1"/>
          <p:nvPr/>
        </p:nvSpPr>
        <p:spPr>
          <a:xfrm>
            <a:off x="1164392" y="313361"/>
            <a:ext cx="2339102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자체 평가 의견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248D08-C1C8-7250-D47D-0D06604510C2}"/>
              </a:ext>
            </a:extLst>
          </p:cNvPr>
          <p:cNvSpPr txBox="1"/>
          <p:nvPr/>
        </p:nvSpPr>
        <p:spPr>
          <a:xfrm>
            <a:off x="1055440" y="1319277"/>
            <a:ext cx="939704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i="1" dirty="0"/>
              <a:t>잘한 부분</a:t>
            </a:r>
            <a:r>
              <a:rPr kumimoji="1" lang="en-US" altLang="ko-KR" sz="2000" b="1" i="1" dirty="0"/>
              <a:t>:</a:t>
            </a:r>
          </a:p>
          <a:p>
            <a:endParaRPr kumimoji="1" lang="en-US" altLang="ko-KR" sz="2000" b="1" i="1" dirty="0"/>
          </a:p>
          <a:p>
            <a:pPr marL="285750" indent="-285750">
              <a:buFontTx/>
              <a:buChar char="-"/>
            </a:pPr>
            <a:r>
              <a:rPr kumimoji="1" lang="ko-KR" altLang="en-US" dirty="0"/>
              <a:t>키워드</a:t>
            </a:r>
            <a:r>
              <a:rPr kumimoji="1" lang="en-US" altLang="ko-KR" dirty="0"/>
              <a:t>/</a:t>
            </a:r>
            <a:r>
              <a:rPr kumimoji="1" lang="ko-KR" altLang="en-US" dirty="0"/>
              <a:t>벡터</a:t>
            </a:r>
            <a:r>
              <a:rPr kumimoji="1" lang="en-US" altLang="ko-KR" dirty="0"/>
              <a:t>/</a:t>
            </a:r>
            <a:r>
              <a:rPr kumimoji="1" lang="ko-KR" altLang="en-US" dirty="0"/>
              <a:t>하이브리드 검색을 병렬로 처리하고 </a:t>
            </a:r>
            <a:r>
              <a:rPr kumimoji="1" lang="en-US" altLang="ko-KR" dirty="0"/>
              <a:t>RRF</a:t>
            </a:r>
            <a:r>
              <a:rPr kumimoji="1" lang="ko-KR" altLang="en-US" dirty="0"/>
              <a:t>로 결합하는 검색 시스템과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RAG</a:t>
            </a:r>
            <a:r>
              <a:rPr kumimoji="1" lang="ko-KR" altLang="en-US" dirty="0"/>
              <a:t> 파이프라인에 </a:t>
            </a:r>
            <a:r>
              <a:rPr kumimoji="1" lang="ko-KR" altLang="en-US" dirty="0" err="1"/>
              <a:t>시맨틱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캐싱과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임베딩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캐싱을</a:t>
            </a:r>
            <a:r>
              <a:rPr kumimoji="1" lang="ko-KR" altLang="en-US" dirty="0"/>
              <a:t> 적용하여 성능을 최적화한 부분이 잘 구현되었다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r>
              <a:rPr kumimoji="1" lang="ko-KR" altLang="en-US" dirty="0"/>
              <a:t>또한</a:t>
            </a:r>
            <a:r>
              <a:rPr kumimoji="1" lang="en-US" altLang="ko-KR" dirty="0"/>
              <a:t>,</a:t>
            </a:r>
            <a:r>
              <a:rPr kumimoji="1" lang="ko-KR" altLang="en-US" dirty="0"/>
              <a:t> 도서관 정보나루 </a:t>
            </a:r>
            <a:r>
              <a:rPr kumimoji="1" lang="en-US" altLang="ko-KR" dirty="0"/>
              <a:t>API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MCP Server</a:t>
            </a:r>
            <a:r>
              <a:rPr kumimoji="1" lang="ko-KR" altLang="en-US" dirty="0"/>
              <a:t>로 직접 구현하여 </a:t>
            </a:r>
            <a:r>
              <a:rPr kumimoji="1" lang="en-US" altLang="ko-KR" dirty="0"/>
              <a:t>AI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Tool Calling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실시간 도서관 정보를 조회하는 구조를 완성한 것도 의미 있는 성과이다</a:t>
            </a:r>
            <a:r>
              <a:rPr kumimoji="1" lang="en-US" altLang="ko-KR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355E27-E78E-7DC8-56FB-25BCD0D81210}"/>
              </a:ext>
            </a:extLst>
          </p:cNvPr>
          <p:cNvSpPr txBox="1"/>
          <p:nvPr/>
        </p:nvSpPr>
        <p:spPr>
          <a:xfrm>
            <a:off x="1055440" y="3676379"/>
            <a:ext cx="939704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i="1" dirty="0"/>
              <a:t>아쉬운 점</a:t>
            </a:r>
            <a:r>
              <a:rPr kumimoji="1" lang="en-US" altLang="ko-KR" sz="2000" b="1" i="1" dirty="0"/>
              <a:t>:</a:t>
            </a:r>
          </a:p>
          <a:p>
            <a:endParaRPr kumimoji="1" lang="en-US" altLang="ko-KR" sz="2000" b="1" i="1" dirty="0"/>
          </a:p>
          <a:p>
            <a:pPr marL="285750" indent="-285750">
              <a:buFontTx/>
              <a:buChar char="-"/>
            </a:pPr>
            <a:r>
              <a:rPr kumimoji="1" lang="en-US" altLang="ko-KR" dirty="0" err="1"/>
              <a:t>Ollama</a:t>
            </a:r>
            <a:r>
              <a:rPr kumimoji="1" lang="en-US" altLang="ko-KR" dirty="0"/>
              <a:t> </a:t>
            </a:r>
            <a:r>
              <a:rPr kumimoji="1" lang="ko-KR" altLang="en-US" dirty="0"/>
              <a:t>모델이 </a:t>
            </a:r>
            <a:r>
              <a:rPr kumimoji="1" lang="en-US" altLang="ko-KR" dirty="0"/>
              <a:t>Tool Calling </a:t>
            </a:r>
            <a:r>
              <a:rPr kumimoji="1" lang="ko-KR" altLang="en-US" dirty="0"/>
              <a:t>시 </a:t>
            </a:r>
            <a:r>
              <a:rPr kumimoji="1" lang="en-US" altLang="ko-KR" dirty="0"/>
              <a:t>ISBN</a:t>
            </a:r>
            <a:r>
              <a:rPr kumimoji="1" lang="ko-KR" altLang="en-US" dirty="0"/>
              <a:t>을 임의로 추측하거나 반복 호출하는 문제가 완전히 해결되지 않았다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물론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Gemini </a:t>
            </a:r>
            <a:r>
              <a:rPr kumimoji="1" lang="ko-KR" altLang="en-US" dirty="0"/>
              <a:t>모델로 변경하면 </a:t>
            </a:r>
            <a:r>
              <a:rPr kumimoji="1" lang="ko-KR" altLang="en-US" dirty="0" err="1"/>
              <a:t>해결되겠으나</a:t>
            </a:r>
            <a:r>
              <a:rPr kumimoji="1" lang="en-US" altLang="ko-KR" dirty="0"/>
              <a:t>,</a:t>
            </a:r>
            <a:r>
              <a:rPr kumimoji="1" lang="ko-KR" altLang="en-US" dirty="0"/>
              <a:t> 약소한 환경에서의 구현 또한 완벽히 풀어내지 못한 아쉬움이 있다</a:t>
            </a:r>
            <a:r>
              <a:rPr kumimoji="1"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kumimoji="1" lang="ko-KR" altLang="en-US" dirty="0" err="1"/>
              <a:t>시맨틱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캐싱이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ConcurrentHashMap</a:t>
            </a:r>
            <a:r>
              <a:rPr kumimoji="1" lang="ko-KR" altLang="en-US" dirty="0"/>
              <a:t>을 통한 인메모리 방식이라 서버 재시작 시 초기화되고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일부 </a:t>
            </a:r>
            <a:r>
              <a:rPr kumimoji="1" lang="en-US" altLang="ko-KR" dirty="0"/>
              <a:t>UI</a:t>
            </a:r>
            <a:r>
              <a:rPr kumimoji="1" lang="ko-KR" altLang="en-US" dirty="0"/>
              <a:t> 스타일 이슈도 남아있다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429527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5DF4D"/>
            </a:gs>
            <a:gs pos="44000">
              <a:srgbClr val="F5DF4D">
                <a:alpha val="70000"/>
                <a:lumMod val="90000"/>
                <a:lumOff val="10000"/>
              </a:srgbClr>
            </a:gs>
            <a:gs pos="71000">
              <a:srgbClr val="939597">
                <a:alpha val="70000"/>
                <a:lumMod val="99000"/>
                <a:lumOff val="1000"/>
              </a:srgbClr>
            </a:gs>
            <a:gs pos="100000">
              <a:srgbClr val="939597"/>
            </a:gs>
          </a:gsLst>
          <a:lin ang="27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BB2D79-AA4C-AB60-0B6B-B7E5C93A3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660DCF98-919D-F072-980F-59A4E4378B4C}"/>
              </a:ext>
            </a:extLst>
          </p:cNvPr>
          <p:cNvSpPr/>
          <p:nvPr/>
        </p:nvSpPr>
        <p:spPr>
          <a:xfrm>
            <a:off x="150688" y="326802"/>
            <a:ext cx="11737304" cy="64087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330B18B-A4B8-74CF-FA67-E0649CE41848}"/>
              </a:ext>
            </a:extLst>
          </p:cNvPr>
          <p:cNvCxnSpPr>
            <a:cxnSpLocks/>
          </p:cNvCxnSpPr>
          <p:nvPr/>
        </p:nvCxnSpPr>
        <p:spPr>
          <a:xfrm>
            <a:off x="3683732" y="790307"/>
            <a:ext cx="820426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3">
            <a:extLst>
              <a:ext uri="{FF2B5EF4-FFF2-40B4-BE49-F238E27FC236}">
                <a16:creationId xmlns:a16="http://schemas.microsoft.com/office/drawing/2014/main" id="{7027597E-E400-543D-EE30-A19F06DC25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958" y="197876"/>
            <a:ext cx="116046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r>
              <a:rPr lang="en-US" altLang="ko-KR" sz="4000" b="1" dirty="0">
                <a:ln w="15875">
                  <a:solidFill>
                    <a:schemeClr val="tx1"/>
                  </a:solidFill>
                </a:ln>
                <a:pattFill prst="dkUpDiag">
                  <a:fgClr>
                    <a:schemeClr val="bg2">
                      <a:lumMod val="25000"/>
                    </a:schemeClr>
                  </a:fgClr>
                  <a:bgClr>
                    <a:schemeClr val="bg1"/>
                  </a:bgClr>
                </a:patt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05</a:t>
            </a:r>
            <a:r>
              <a:rPr lang="en-US" altLang="ko-KR" sz="4000" b="1" dirty="0">
                <a:solidFill>
                  <a:srgbClr val="445569"/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endParaRPr lang="ko-KR" altLang="en-US" sz="4000" b="1" dirty="0">
              <a:solidFill>
                <a:srgbClr val="445569"/>
              </a:solidFill>
              <a:latin typeface="휴먼둥근헤드라인" panose="02030504000101010101" pitchFamily="18" charset="-127"/>
              <a:ea typeface="휴먼둥근헤드라인" panose="0203050400010101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A86DEF-7791-1996-928B-71688C14B51D}"/>
              </a:ext>
            </a:extLst>
          </p:cNvPr>
          <p:cNvSpPr txBox="1"/>
          <p:nvPr/>
        </p:nvSpPr>
        <p:spPr>
          <a:xfrm>
            <a:off x="1164392" y="313361"/>
            <a:ext cx="2339102" cy="461665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자체 평가 의견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EAC464-ECBA-B51B-63A3-48020B1DE360}"/>
              </a:ext>
            </a:extLst>
          </p:cNvPr>
          <p:cNvSpPr txBox="1"/>
          <p:nvPr/>
        </p:nvSpPr>
        <p:spPr>
          <a:xfrm>
            <a:off x="1042472" y="1187087"/>
            <a:ext cx="9325036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i="1" dirty="0"/>
              <a:t>추후 개선점</a:t>
            </a:r>
            <a:r>
              <a:rPr kumimoji="1" lang="en-US" altLang="ko-KR" sz="2000" b="1" i="1" dirty="0"/>
              <a:t>:</a:t>
            </a:r>
          </a:p>
          <a:p>
            <a:endParaRPr kumimoji="1" lang="en-US" altLang="ko-KR" dirty="0"/>
          </a:p>
          <a:p>
            <a:pPr marL="285750" indent="-285750">
              <a:buFontTx/>
              <a:buChar char="-"/>
            </a:pPr>
            <a:r>
              <a:rPr kumimoji="1" lang="ko-KR" altLang="en-US" dirty="0" err="1"/>
              <a:t>시맨틱</a:t>
            </a:r>
            <a:r>
              <a:rPr kumimoji="1" lang="ko-KR" altLang="en-US" dirty="0"/>
              <a:t> 캐시를 </a:t>
            </a:r>
            <a:r>
              <a:rPr kumimoji="1" lang="en-US" altLang="ko-KR" dirty="0" err="1"/>
              <a:t>pgvector</a:t>
            </a:r>
            <a:r>
              <a:rPr kumimoji="1" lang="en-US" altLang="ko-KR" dirty="0"/>
              <a:t> DB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영속화하여</a:t>
            </a:r>
            <a:r>
              <a:rPr kumimoji="1" lang="ko-KR" altLang="en-US" dirty="0"/>
              <a:t> 서버 재시작 후에도 유지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r>
              <a:rPr kumimoji="1" lang="en-US" altLang="ko-KR" dirty="0" err="1"/>
              <a:t>Ollama</a:t>
            </a:r>
            <a:r>
              <a:rPr kumimoji="1" lang="en-US" altLang="ko-KR" dirty="0"/>
              <a:t> Tool Calling </a:t>
            </a:r>
            <a:r>
              <a:rPr kumimoji="1" lang="ko-KR" altLang="en-US" dirty="0"/>
              <a:t>안정성 향상을 위한 프롬프트 엔지니어링 고도화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r>
              <a:rPr kumimoji="1" lang="ko-KR" altLang="en-US" dirty="0"/>
              <a:t>일반 검색</a:t>
            </a:r>
            <a:r>
              <a:rPr kumimoji="1" lang="en-US" altLang="ko-KR" dirty="0"/>
              <a:t>(</a:t>
            </a:r>
            <a:r>
              <a:rPr kumimoji="1" lang="ko-KR" altLang="en-US" dirty="0"/>
              <a:t>키워드</a:t>
            </a:r>
            <a:r>
              <a:rPr kumimoji="1" lang="en-US" altLang="ko-KR" dirty="0"/>
              <a:t>/</a:t>
            </a:r>
            <a:r>
              <a:rPr kumimoji="1" lang="ko-KR" altLang="en-US" dirty="0"/>
              <a:t>벡터</a:t>
            </a:r>
            <a:r>
              <a:rPr kumimoji="1" lang="en-US" altLang="ko-KR" dirty="0"/>
              <a:t>/</a:t>
            </a:r>
            <a:r>
              <a:rPr kumimoji="1" lang="ko-KR" altLang="en-US" dirty="0"/>
              <a:t>하이브리드</a:t>
            </a:r>
            <a:r>
              <a:rPr kumimoji="1" lang="en-US" altLang="ko-KR" dirty="0"/>
              <a:t>)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</a:t>
            </a:r>
            <a:r>
              <a:rPr kumimoji="1" lang="en-US" altLang="ko-KR" dirty="0"/>
              <a:t>Caffeine @Cacheable </a:t>
            </a:r>
            <a:r>
              <a:rPr kumimoji="1" lang="ko-KR" altLang="en-US" dirty="0"/>
              <a:t>적용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r>
              <a:rPr kumimoji="1" lang="ko-KR" altLang="en-US" dirty="0"/>
              <a:t>도서관 소장 여부 조회 시 병렬 처리 성능 추가 튜닝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endParaRPr kumimoji="1" lang="en-US" altLang="ko-KR" dirty="0"/>
          </a:p>
          <a:p>
            <a:pPr marL="285750" indent="-285750">
              <a:buFontTx/>
              <a:buChar char="-"/>
            </a:pPr>
            <a:endParaRPr kumimoji="1" lang="en-US" altLang="ko-KR" dirty="0"/>
          </a:p>
        </p:txBody>
      </p:sp>
      <p:cxnSp>
        <p:nvCxnSpPr>
          <p:cNvPr id="4" name="직선 연결선[R] 3">
            <a:extLst>
              <a:ext uri="{FF2B5EF4-FFF2-40B4-BE49-F238E27FC236}">
                <a16:creationId xmlns:a16="http://schemas.microsoft.com/office/drawing/2014/main" id="{6C9661B2-5987-0C7C-8AF9-BB72A327DC07}"/>
              </a:ext>
            </a:extLst>
          </p:cNvPr>
          <p:cNvCxnSpPr/>
          <p:nvPr/>
        </p:nvCxnSpPr>
        <p:spPr>
          <a:xfrm>
            <a:off x="1055440" y="3284984"/>
            <a:ext cx="93970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B357C34-D09A-42C8-CD1E-323768905A08}"/>
              </a:ext>
            </a:extLst>
          </p:cNvPr>
          <p:cNvSpPr txBox="1"/>
          <p:nvPr/>
        </p:nvSpPr>
        <p:spPr>
          <a:xfrm>
            <a:off x="1042386" y="3557159"/>
            <a:ext cx="932503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2000" b="1" i="1" dirty="0"/>
              <a:t>느낀 점 및 경험한 성과</a:t>
            </a:r>
            <a:r>
              <a:rPr kumimoji="1" lang="en-US" altLang="ko-KR" sz="2000" b="1" i="1" dirty="0"/>
              <a:t>:</a:t>
            </a:r>
          </a:p>
          <a:p>
            <a:endParaRPr kumimoji="1" lang="en-US" altLang="ko-KR" dirty="0"/>
          </a:p>
          <a:p>
            <a:pPr marL="285750" indent="-285750">
              <a:buFontTx/>
              <a:buChar char="-"/>
            </a:pPr>
            <a:r>
              <a:rPr kumimoji="1" lang="en-US" altLang="ko-KR" dirty="0"/>
              <a:t>Spring AI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MCP </a:t>
            </a:r>
            <a:r>
              <a:rPr kumimoji="1" lang="ko-KR" altLang="en-US" dirty="0"/>
              <a:t>프로토콜을 처음 다루면서 </a:t>
            </a:r>
            <a:r>
              <a:rPr kumimoji="1" lang="en-US" altLang="ko-KR" dirty="0"/>
              <a:t>LLM</a:t>
            </a:r>
            <a:r>
              <a:rPr kumimoji="1" lang="ko-KR" altLang="en-US" dirty="0"/>
              <a:t>을 실제 서비스에 통합하는 과정의 복잡성과 가능성을 동시에 경험하였다</a:t>
            </a:r>
            <a:r>
              <a:rPr kumimoji="1"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kumimoji="1" lang="ko-KR" altLang="en-US" dirty="0"/>
              <a:t>특히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RAG </a:t>
            </a:r>
            <a:r>
              <a:rPr kumimoji="1" lang="ko-KR" altLang="en-US" dirty="0"/>
              <a:t>파이프라인 설계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Tool Calling</a:t>
            </a:r>
            <a:r>
              <a:rPr kumimoji="1" lang="ko-KR" altLang="en-US" dirty="0"/>
              <a:t> 디버깅</a:t>
            </a:r>
            <a:r>
              <a:rPr kumimoji="1" lang="en-US" altLang="ko-KR" dirty="0"/>
              <a:t>,</a:t>
            </a:r>
            <a:r>
              <a:rPr kumimoji="1" lang="ko-KR" altLang="en-US" dirty="0"/>
              <a:t> 프롬프트 엔지니어링 등 단순 </a:t>
            </a:r>
            <a:r>
              <a:rPr kumimoji="1" lang="en-US" altLang="ko-KR" dirty="0"/>
              <a:t>API </a:t>
            </a:r>
            <a:r>
              <a:rPr kumimoji="1" lang="ko-KR" altLang="en-US" dirty="0"/>
              <a:t>호출을 넘어 </a:t>
            </a:r>
            <a:r>
              <a:rPr kumimoji="1" lang="en-US" altLang="ko-KR" dirty="0"/>
              <a:t>AI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서비스에 깊게 통합하는 실전 경험을 쌓을 수 있었다</a:t>
            </a:r>
            <a:r>
              <a:rPr kumimoji="1" lang="en-US" altLang="ko-KR" dirty="0"/>
              <a:t>.</a:t>
            </a:r>
            <a:r>
              <a:rPr kumimoji="1" lang="ko-KR" altLang="en-US" dirty="0"/>
              <a:t> </a:t>
            </a:r>
            <a:endParaRPr kumimoji="1" lang="en-US" altLang="ko-KR" dirty="0"/>
          </a:p>
          <a:p>
            <a:pPr marL="285750" indent="-285750">
              <a:buFontTx/>
              <a:buChar char="-"/>
            </a:pP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64359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김당근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E431E"/>
      </a:accent1>
      <a:accent2>
        <a:srgbClr val="E41A00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4904</TotalTime>
  <Words>1244</Words>
  <Application>Microsoft Macintosh PowerPoint</Application>
  <PresentationFormat>와이드스크린</PresentationFormat>
  <Paragraphs>184</Paragraphs>
  <Slides>27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5" baseType="lpstr">
      <vt:lpstr>Calibri Light</vt:lpstr>
      <vt:lpstr>Calibri</vt:lpstr>
      <vt:lpstr>휴먼둥근헤드라인</vt:lpstr>
      <vt:lpstr>Arial</vt:lpstr>
      <vt:lpstr>Wingdings</vt:lpstr>
      <vt:lpstr>맑은 고딕</vt:lpstr>
      <vt:lpstr>Noto Sans KR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김다은</dc:creator>
  <cp:lastModifiedBy>손재민</cp:lastModifiedBy>
  <cp:revision>379</cp:revision>
  <cp:lastPrinted>2023-10-05T23:14:22Z</cp:lastPrinted>
  <dcterms:created xsi:type="dcterms:W3CDTF">2014-04-29T00:37:20Z</dcterms:created>
  <dcterms:modified xsi:type="dcterms:W3CDTF">2026-07-04T02:31:37Z</dcterms:modified>
</cp:coreProperties>
</file>